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embeddedFontLst>
    <p:embeddedFont>
      <p:font typeface="Roboto"/>
      <p:regular r:id="rId16"/>
      <p:bold r:id="rId17"/>
      <p:italic r:id="rId18"/>
      <p:boldItalic r:id="rId19"/>
    </p:embeddedFont>
    <p:embeddedFont>
      <p:font typeface="Tahoma"/>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8A27E6-43D6-4C41-B81A-627181AE2184}">
  <a:tblStyle styleId="{098A27E6-43D6-4C41-B81A-627181AE218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Tahoma-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Tahoma-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 — TITLE</a:t>
            </a:r>
            <a:br>
              <a:rPr lang="en-US"/>
            </a:br>
            <a:br>
              <a:rPr lang="en-US"/>
            </a:br>
            <a:r>
              <a:rPr lang="en-US"/>
              <a:t>Business Problem: Most retail and semi-professional portfolios are constructed emotionally — stocks are picked for their stories, not their portfolio roles.</a:t>
            </a:r>
            <a:br>
              <a:rPr lang="en-US"/>
            </a:br>
            <a:br>
              <a:rPr lang="en-US"/>
            </a:br>
            <a:r>
              <a:rPr lang="en-US"/>
              <a:t>Approach: This framework replaces subjective allocation with mathematical optimization, treating capital allocation as an engineering problem.</a:t>
            </a:r>
            <a:br>
              <a:rPr lang="en-US"/>
            </a:br>
            <a:br>
              <a:rPr lang="en-US"/>
            </a:br>
            <a:r>
              <a:rPr lang="en-US"/>
              <a:t>Trade-off: Systematic frameworks sacrifice flexibility in favor of discipline and repeatability.</a:t>
            </a:r>
            <a:br>
              <a:rPr lang="en-US"/>
            </a:br>
            <a:br>
              <a:rPr lang="en-US"/>
            </a:br>
            <a:r>
              <a:rPr lang="en-US"/>
              <a:t>IC Message: This is a portfolio construction project. The goal is to build an institutionally deployable portfolio that maximizes expected returns while remaining inside predefined risk budgets. It is NOT an AI stock picker or trading bot.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 EXECUTIVE SUMMARY</a:t>
            </a:r>
            <a:br>
              <a:rPr lang="en-US"/>
            </a:br>
            <a:br>
              <a:rPr lang="en-US"/>
            </a:br>
            <a:r>
              <a:rPr lang="en-US"/>
              <a:t>Business Problem: Investment committees need a clear, honest scorecard that shows what was targeted, what was achieved, and what trade-offs were made.</a:t>
            </a:r>
            <a:br>
              <a:rPr lang="en-US"/>
            </a:br>
            <a:br>
              <a:rPr lang="en-US"/>
            </a:br>
            <a:r>
              <a:rPr lang="en-US"/>
              <a:t>Approach: All key metrics are presented with their pre-defined targets alongside actual results. Trade-offs are acknowledged rather than hidden.</a:t>
            </a:r>
            <a:br>
              <a:rPr lang="en-US"/>
            </a:br>
            <a:br>
              <a:rPr lang="en-US"/>
            </a:br>
            <a:r>
              <a:rPr lang="en-US"/>
              <a:t>Trade-off: Beta (0.830 vs target 0.85-0.95) and Sharpe (0.516 vs target &gt;0.65) both fell short. This was because achieving higher Beta/Sharpe would have required breaching volatility and drawdown budgets.</a:t>
            </a:r>
            <a:br>
              <a:rPr lang="en-US"/>
            </a:br>
            <a:br>
              <a:rPr lang="en-US"/>
            </a:br>
            <a:r>
              <a:rPr lang="en-US"/>
              <a:t>IC Message: Portfolio management is a trade-off optimization problem. When risk budgets are tight, some metrics must be sacrificed. The optimizer prioritized capital preservation over maximizing every ratio.</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3 — RESEARCH TO CONSTRUCTION</a:t>
            </a:r>
            <a:br>
              <a:rPr lang="en-US"/>
            </a:br>
            <a:br>
              <a:rPr lang="en-US"/>
            </a:br>
            <a:r>
              <a:rPr lang="en-US"/>
              <a:t>Business Problem: Raw research generates stock ideas — but ideas alone don't form a portfolio. This slide addresses the gap between 'which stocks' and 'how much of each stock'.</a:t>
            </a:r>
            <a:br>
              <a:rPr lang="en-US"/>
            </a:br>
            <a:br>
              <a:rPr lang="en-US"/>
            </a:br>
            <a:r>
              <a:rPr lang="en-US"/>
              <a:t>Approach: External advisory recommendations were used as a quality benchmark. The optimizer independently solved the allocation problem using mathematical constraints.</a:t>
            </a:r>
            <a:br>
              <a:rPr lang="en-US"/>
            </a:br>
            <a:br>
              <a:rPr lang="en-US"/>
            </a:br>
            <a:r>
              <a:rPr lang="en-US"/>
              <a:t>Trade-off: Only 37.5% overlap means the optimizer frequently disagreed with pure research-driven picks — prioritizing diversification and risk efficiency over conviction in any single name.</a:t>
            </a:r>
            <a:br>
              <a:rPr lang="en-US"/>
            </a:br>
            <a:br>
              <a:rPr lang="en-US"/>
            </a:br>
            <a:r>
              <a:rPr lang="en-US"/>
              <a:t>IC Message: The optimizer is not competing with research analysts. It is solving the construction problem that follows from research. Security selection and portfolio construction are complementary, not competing.</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4 — ARCHITECTURE</a:t>
            </a:r>
            <a:br>
              <a:rPr lang="en-US"/>
            </a:br>
            <a:br>
              <a:rPr lang="en-US"/>
            </a:br>
            <a:r>
              <a:rPr lang="en-US"/>
              <a:t>Business Problem: Investors often think diversification means 'many stocks.' True diversification means different portfolio roles — some holdings anchor volatility, some generate alpha, some provide tactical upside.</a:t>
            </a:r>
            <a:br>
              <a:rPr lang="en-US"/>
            </a:br>
            <a:br>
              <a:rPr lang="en-US"/>
            </a:br>
            <a:r>
              <a:rPr lang="en-US"/>
              <a:t>Approach: The portfolio is structured as three functional layers, each with distinct mandates and size constraints.</a:t>
            </a:r>
            <a:br>
              <a:rPr lang="en-US"/>
            </a:br>
            <a:br>
              <a:rPr lang="en-US"/>
            </a:br>
            <a:r>
              <a:rPr lang="en-US"/>
              <a:t>Trade-off: The 7% tactical satellite cap limits upside from cyclical names like JSW Steel, but also protects the portfolio from severe sector drawdowns.</a:t>
            </a:r>
            <a:br>
              <a:rPr lang="en-US"/>
            </a:br>
            <a:br>
              <a:rPr lang="en-US"/>
            </a:br>
            <a:r>
              <a:rPr lang="en-US"/>
              <a:t>IC Message: Each position in this portfolio earns its place based on the role it serves. This is institutional portfolio architecture, not stock picking.</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5 — FUNDAMENTAL FILTRATION</a:t>
            </a:r>
            <a:br>
              <a:rPr lang="en-US"/>
            </a:br>
            <a:br>
              <a:rPr lang="en-US"/>
            </a:br>
            <a:r>
              <a:rPr lang="en-US"/>
              <a:t>Business Problem: Mathematical optimizers can generate portfolios with very high allocations to fundamentally weak businesses if no quality gate exists. Garbage in, garbage out.</a:t>
            </a:r>
            <a:br>
              <a:rPr lang="en-US"/>
            </a:br>
            <a:br>
              <a:rPr lang="en-US"/>
            </a:br>
            <a:r>
              <a:rPr lang="en-US"/>
              <a:t>Approach: A multi-factor quality scoring system screens every security before it enters the optimizer. Securities below the quality threshold are permanently excluded.</a:t>
            </a:r>
            <a:br>
              <a:rPr lang="en-US"/>
            </a:br>
            <a:br>
              <a:rPr lang="en-US"/>
            </a:br>
            <a:r>
              <a:rPr lang="en-US"/>
              <a:t>Trade-off: The strict threshold eliminates some potentially high-return, low-quality names that a pure return-maximizer would select.</a:t>
            </a:r>
            <a:br>
              <a:rPr lang="en-US"/>
            </a:br>
            <a:br>
              <a:rPr lang="en-US"/>
            </a:br>
            <a:r>
              <a:rPr lang="en-US"/>
              <a:t>IC Message: The optimizer is designed to build sustainable portfolios, not just high-return portfolios. Fundamental quality is the first risk control layer before mathematical optimization begins.</a:t>
            </a:r>
            <a:endParaRPr/>
          </a:p>
        </p:txBody>
      </p:sp>
      <p:sp>
        <p:nvSpPr>
          <p:cNvPr id="163" name="Google Shape;1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6 — CONSTRUCTION FRAMEWORK</a:t>
            </a:r>
            <a:br>
              <a:rPr lang="en-US"/>
            </a:br>
            <a:br>
              <a:rPr lang="en-US"/>
            </a:br>
            <a:r>
              <a:rPr lang="en-US"/>
              <a:t>Business Problem: Without mathematical constraints, portfolio construction is subject to behavioral biases — overconcentration, sector tilts, and ignoring downside risk.</a:t>
            </a:r>
            <a:br>
              <a:rPr lang="en-US"/>
            </a:br>
            <a:br>
              <a:rPr lang="en-US"/>
            </a:br>
            <a:r>
              <a:rPr lang="en-US"/>
              <a:t>Approach: Two industry-standard optimization algorithms (SLSQP and Trust-Constr) are applied in sequence, with hard constraints on volatility, drawdown, concentration, and industry exposure.</a:t>
            </a:r>
            <a:br>
              <a:rPr lang="en-US"/>
            </a:br>
            <a:br>
              <a:rPr lang="en-US"/>
            </a:br>
            <a:r>
              <a:rPr lang="en-US"/>
              <a:t>Trade-off: Stricter constraints reduce the optimizer's degrees of freedom, potentially leaving return on the table. The optimizer may not find the globally maximum-return portfolio — but it finds the best portfolio within the defined risk envelope.</a:t>
            </a:r>
            <a:br>
              <a:rPr lang="en-US"/>
            </a:br>
            <a:br>
              <a:rPr lang="en-US"/>
            </a:br>
            <a:r>
              <a:rPr lang="en-US"/>
              <a:t>IC Message: The constraint set is what makes this portfolio deployable for an institutional investor. Anyone can build a high-return backtest. Building a constrained, risk-budgeted portfolio is much harder.</a:t>
            </a:r>
            <a:endParaRPr/>
          </a:p>
        </p:txBody>
      </p:sp>
      <p:sp>
        <p:nvSpPr>
          <p:cNvPr id="218" name="Google Shape;218;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7 — RISK BUDGETING</a:t>
            </a:r>
            <a:br>
              <a:rPr lang="en-US"/>
            </a:br>
            <a:br>
              <a:rPr lang="en-US"/>
            </a:br>
            <a:r>
              <a:rPr lang="en-US"/>
              <a:t>Business Problem: Most portfolios treat risk as a residual — you pick stocks, and then you discover the risk. Professional portfolio management does the opposite.</a:t>
            </a:r>
            <a:br>
              <a:rPr lang="en-US"/>
            </a:br>
            <a:br>
              <a:rPr lang="en-US"/>
            </a:br>
            <a:r>
              <a:rPr lang="en-US"/>
              <a:t>Approach: Risk budgets are defined before any security is selected. The optimizer then maximizes return within those budgets.</a:t>
            </a:r>
            <a:br>
              <a:rPr lang="en-US"/>
            </a:br>
            <a:br>
              <a:rPr lang="en-US"/>
            </a:br>
            <a:r>
              <a:rPr lang="en-US"/>
              <a:t>Trade-off: Using 95% of both budgets means the portfolio is close to the edge of its tolerance. This was deliberate — leaving excessive safety margin would have unnecessarily reduced expected returns.</a:t>
            </a:r>
            <a:br>
              <a:rPr lang="en-US"/>
            </a:br>
            <a:br>
              <a:rPr lang="en-US"/>
            </a:br>
            <a:r>
              <a:rPr lang="en-US"/>
              <a:t>IC Message: 95% budget utilization is a sign of efficiency, not recklessness. The optimizer found the maximum return achievable without breaching any risk constraint.</a:t>
            </a:r>
            <a:endParaRPr/>
          </a:p>
        </p:txBody>
      </p:sp>
      <p:sp>
        <p:nvSpPr>
          <p:cNvPr id="261" name="Google Shape;261;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8 — CAPITAL PRESERVATION</a:t>
            </a:r>
            <a:br>
              <a:rPr lang="en-US"/>
            </a:br>
            <a:br>
              <a:rPr lang="en-US"/>
            </a:br>
            <a:r>
              <a:rPr lang="en-US"/>
              <a:t>Business Problem: Maximizing Sharpe or Beta in isolation can lead to unacceptable drawdowns. Institutional mandates require that capital is protected from catastrophic losses.</a:t>
            </a:r>
            <a:br>
              <a:rPr lang="en-US"/>
            </a:br>
            <a:br>
              <a:rPr lang="en-US"/>
            </a:br>
            <a:r>
              <a:rPr lang="en-US"/>
              <a:t>Approach: The optimizer was explicitly programmed to prioritize drawdown control over market-sensitivity maximization. When simulation showed that higher Beta/Sharpe required violating risk budgets, the optimizer shifted capital to defensive sectors.</a:t>
            </a:r>
            <a:br>
              <a:rPr lang="en-US"/>
            </a:br>
            <a:br>
              <a:rPr lang="en-US"/>
            </a:br>
            <a:r>
              <a:rPr lang="en-US"/>
              <a:t>Trade-off: Beta (0.830) and Sharpe (0.516) both fell short of targets. This was accepted because the alternative would have breached drawdown constraints.</a:t>
            </a:r>
            <a:br>
              <a:rPr lang="en-US"/>
            </a:br>
            <a:br>
              <a:rPr lang="en-US"/>
            </a:br>
            <a:r>
              <a:rPr lang="en-US"/>
              <a:t>IC Message: Institutional portfolio management means accepting that some individual metrics will be sacrificed to maintain the overall risk framework. The portfolio did exactly what it was designed to do.</a:t>
            </a:r>
            <a:endParaRPr/>
          </a:p>
        </p:txBody>
      </p:sp>
      <p:sp>
        <p:nvSpPr>
          <p:cNvPr id="287" name="Google Shape;28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9 — FINAL PORTFOLIO</a:t>
            </a:r>
            <a:br>
              <a:rPr lang="en-US"/>
            </a:br>
            <a:br>
              <a:rPr lang="en-US"/>
            </a:br>
            <a:r>
              <a:rPr lang="en-US"/>
              <a:t>Business Problem: An investment committee needs to see the actual portfolio — not just the methodology. Each allocation must be defensible and transparent.</a:t>
            </a:r>
            <a:br>
              <a:rPr lang="en-US"/>
            </a:br>
            <a:br>
              <a:rPr lang="en-US"/>
            </a:br>
            <a:r>
              <a:rPr lang="en-US"/>
              <a:t>Approach: All 16 holdings are presented with their allocations, portfolio role, sector, beta, and fundamental score. The portfolio is 70% large cap for stability, 23% mid cap for alpha, and 7% small cap for controlled upside.</a:t>
            </a:r>
            <a:br>
              <a:rPr lang="en-US"/>
            </a:br>
            <a:br>
              <a:rPr lang="en-US"/>
            </a:br>
            <a:r>
              <a:rPr lang="en-US"/>
              <a:t>Trade-off: The 2-per-sector constraint means some sectors are underweighted relative to a benchmark, and some attractive names may be excluded because their sector is already full.</a:t>
            </a:r>
            <a:br>
              <a:rPr lang="en-US"/>
            </a:br>
            <a:br>
              <a:rPr lang="en-US"/>
            </a:br>
            <a:r>
              <a:rPr lang="en-US"/>
              <a:t>IC Message: This is not a random collection of stocks. Every position has a defined role, a size limit, and a quality threshold. The portfolio is fully transparent and auditable.</a:t>
            </a:r>
            <a:endParaRPr/>
          </a:p>
        </p:txBody>
      </p:sp>
      <p:sp>
        <p:nvSpPr>
          <p:cNvPr id="322" name="Google Shape;32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10 — LIFECYCLE &amp; SCALABILITY</a:t>
            </a:r>
            <a:br>
              <a:rPr lang="en-US"/>
            </a:br>
            <a:br>
              <a:rPr lang="en-US"/>
            </a:br>
            <a:r>
              <a:rPr lang="en-US"/>
              <a:t>Business Problem: A one-time portfolio construction is not investable at scale. Institutional frameworks require repeatable, automated, and auditable workflows.</a:t>
            </a:r>
            <a:br>
              <a:rPr lang="en-US"/>
            </a:br>
            <a:br>
              <a:rPr lang="en-US"/>
            </a:br>
            <a:r>
              <a:rPr lang="en-US"/>
              <a:t>Approach: The framework is built as a complete investment lifecycle — from universe definition through rebalancing and attribution — using production-grade Python libraries.</a:t>
            </a:r>
            <a:br>
              <a:rPr lang="en-US"/>
            </a:br>
            <a:br>
              <a:rPr lang="en-US"/>
            </a:br>
            <a:r>
              <a:rPr lang="en-US"/>
              <a:t>Trade-off: Automation introduces model risk. A fully systematic process can make systematic errors. This is why the fundamental quality gate exists — to prevent the optimizer from entering structurally bad positions.</a:t>
            </a:r>
            <a:br>
              <a:rPr lang="en-US"/>
            </a:br>
            <a:br>
              <a:rPr lang="en-US"/>
            </a:br>
            <a:r>
              <a:rPr lang="en-US"/>
              <a:t>IC Message: This framework is not a class project. It is an institutional-grade portfolio construction system that could, with appropriate data and infrastructure investment, be deployed in a professional asset management context. It demonstrates command of the full investment lifecycle, not just the optimization step.</a:t>
            </a:r>
            <a:endParaRPr/>
          </a:p>
        </p:txBody>
      </p:sp>
      <p:sp>
        <p:nvSpPr>
          <p:cNvPr id="335" name="Google Shape;33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Tanmay130/Institutional-Portfolio-Optimiz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com/Tanmay130/Institutional-Portfolio-Optimiz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92F"/>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54864"/>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5088636"/>
            <a:ext cx="9144000" cy="54864"/>
          </a:xfrm>
          <a:prstGeom prst="rect">
            <a:avLst/>
          </a:prstGeom>
          <a:solidFill>
            <a:srgbClr val="C8A84B"/>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02908" y="959988"/>
            <a:ext cx="5486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1100"/>
              <a:buFont typeface="Calibri"/>
              <a:buNone/>
            </a:pPr>
            <a:r>
              <a:rPr b="1" i="0" lang="en-US" sz="2400" u="none" cap="none" strike="noStrike">
                <a:solidFill>
                  <a:srgbClr val="C8A84B"/>
                </a:solidFill>
                <a:latin typeface="Tahoma"/>
                <a:ea typeface="Tahoma"/>
                <a:cs typeface="Tahoma"/>
                <a:sym typeface="Tahoma"/>
              </a:rPr>
              <a:t>INSTITUTIONAL</a:t>
            </a:r>
            <a:endParaRPr i="0" sz="2400" u="none" cap="none" strike="noStrike">
              <a:solidFill>
                <a:schemeClr val="dk1"/>
              </a:solidFill>
              <a:latin typeface="Tahoma"/>
              <a:ea typeface="Tahoma"/>
              <a:cs typeface="Tahoma"/>
              <a:sym typeface="Tahoma"/>
            </a:endParaRPr>
          </a:p>
        </p:txBody>
      </p:sp>
      <p:sp>
        <p:nvSpPr>
          <p:cNvPr id="19" name="Google Shape;19;p3"/>
          <p:cNvSpPr/>
          <p:nvPr/>
        </p:nvSpPr>
        <p:spPr>
          <a:xfrm>
            <a:off x="457200" y="1280105"/>
            <a:ext cx="54864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i="0" lang="en-US" sz="2400" u="none" cap="none" strike="noStrike">
                <a:solidFill>
                  <a:srgbClr val="FFFFFF"/>
                </a:solidFill>
                <a:latin typeface="Tahoma"/>
                <a:ea typeface="Tahoma"/>
                <a:cs typeface="Tahoma"/>
                <a:sym typeface="Tahoma"/>
              </a:rPr>
              <a:t>Portfolio Optimizer</a:t>
            </a:r>
            <a:endParaRPr i="0" sz="2400" u="none" cap="none" strike="noStrike">
              <a:solidFill>
                <a:schemeClr val="dk1"/>
              </a:solidFill>
              <a:latin typeface="Tahoma"/>
              <a:ea typeface="Tahoma"/>
              <a:cs typeface="Tahoma"/>
              <a:sym typeface="Tahoma"/>
            </a:endParaRPr>
          </a:p>
        </p:txBody>
      </p:sp>
      <p:sp>
        <p:nvSpPr>
          <p:cNvPr id="20" name="Google Shape;20;p3"/>
          <p:cNvSpPr/>
          <p:nvPr/>
        </p:nvSpPr>
        <p:spPr>
          <a:xfrm>
            <a:off x="502920" y="2377440"/>
            <a:ext cx="5394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BEC5"/>
              </a:buClr>
              <a:buSzPts val="1300"/>
              <a:buFont typeface="Calibri"/>
              <a:buNone/>
            </a:pPr>
            <a:r>
              <a:rPr lang="en-US" sz="1300" u="none" cap="none" strike="noStrike">
                <a:solidFill>
                  <a:srgbClr val="B0BEC5"/>
                </a:solidFill>
                <a:latin typeface="Tahoma"/>
                <a:ea typeface="Tahoma"/>
                <a:cs typeface="Tahoma"/>
                <a:sym typeface="Tahoma"/>
              </a:rPr>
              <a:t>Non-Linear Portfolio Construction for Alpha Generation &amp; Systematic Risk Control</a:t>
            </a:r>
            <a:endParaRPr sz="1300" u="none" cap="none" strike="noStrike">
              <a:solidFill>
                <a:schemeClr val="dk1"/>
              </a:solidFill>
              <a:latin typeface="Tahoma"/>
              <a:ea typeface="Tahoma"/>
              <a:cs typeface="Tahoma"/>
              <a:sym typeface="Tahoma"/>
            </a:endParaRPr>
          </a:p>
        </p:txBody>
      </p:sp>
      <p:cxnSp>
        <p:nvCxnSpPr>
          <p:cNvPr id="21" name="Google Shape;21;p3"/>
          <p:cNvCxnSpPr/>
          <p:nvPr/>
        </p:nvCxnSpPr>
        <p:spPr>
          <a:xfrm>
            <a:off x="502920" y="2971800"/>
            <a:ext cx="5029200" cy="0"/>
          </a:xfrm>
          <a:prstGeom prst="straightConnector1">
            <a:avLst/>
          </a:prstGeom>
          <a:noFill/>
          <a:ln cap="flat" cmpd="sng" w="12700">
            <a:solidFill>
              <a:srgbClr val="C8A84B"/>
            </a:solidFill>
            <a:prstDash val="solid"/>
            <a:round/>
            <a:headEnd len="sm" w="sm" type="none"/>
            <a:tailEnd len="sm" w="sm" type="none"/>
          </a:ln>
        </p:spPr>
      </p:cxnSp>
      <p:sp>
        <p:nvSpPr>
          <p:cNvPr id="22" name="Google Shape;22;p3"/>
          <p:cNvSpPr/>
          <p:nvPr/>
        </p:nvSpPr>
        <p:spPr>
          <a:xfrm>
            <a:off x="502920" y="3090672"/>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0BE"/>
              </a:buClr>
              <a:buSzPts val="1000"/>
              <a:buFont typeface="Calibri"/>
              <a:buNone/>
            </a:pPr>
            <a:r>
              <a:rPr i="0" lang="en-US" sz="1000" u="none" cap="none" strike="noStrike">
                <a:solidFill>
                  <a:srgbClr val="8BA0BE"/>
                </a:solidFill>
                <a:latin typeface="Tahoma"/>
                <a:ea typeface="Tahoma"/>
                <a:cs typeface="Tahoma"/>
                <a:sym typeface="Tahoma"/>
              </a:rPr>
              <a:t>Tanmay Singh Soni  |  DTU — Software Engineering  |  23/SE/208</a:t>
            </a:r>
            <a:endParaRPr i="0" sz="1000" u="none" cap="none" strike="noStrike">
              <a:solidFill>
                <a:schemeClr val="dk1"/>
              </a:solidFill>
              <a:latin typeface="Tahoma"/>
              <a:ea typeface="Tahoma"/>
              <a:cs typeface="Tahoma"/>
              <a:sym typeface="Tahoma"/>
            </a:endParaRPr>
          </a:p>
        </p:txBody>
      </p:sp>
      <p:sp>
        <p:nvSpPr>
          <p:cNvPr id="23" name="Google Shape;23;p3"/>
          <p:cNvSpPr/>
          <p:nvPr/>
        </p:nvSpPr>
        <p:spPr>
          <a:xfrm>
            <a:off x="502920" y="3364992"/>
            <a:ext cx="5486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950"/>
              <a:buFont typeface="Calibri"/>
              <a:buNone/>
            </a:pPr>
            <a:r>
              <a:rPr b="0" i="0" lang="en-US" sz="950" u="sng" cap="none" strike="noStrike">
                <a:solidFill>
                  <a:srgbClr val="C8A84B"/>
                </a:solidFill>
                <a:latin typeface="Calibri"/>
                <a:ea typeface="Calibri"/>
                <a:cs typeface="Calibri"/>
                <a:sym typeface="Calibri"/>
                <a:hlinkClick r:id="rId3">
                  <a:extLst>
                    <a:ext uri="{A12FA001-AC4F-418D-AE19-62706E023703}">
                      <ahyp:hlinkClr val="tx"/>
                    </a:ext>
                  </a:extLst>
                </a:hlinkClick>
              </a:rPr>
              <a:t>Link of Github</a:t>
            </a:r>
            <a:endParaRPr b="0" i="0" sz="950" u="none" cap="none" strike="noStrike">
              <a:solidFill>
                <a:srgbClr val="C8A84B"/>
              </a:solidFill>
              <a:latin typeface="Calibri"/>
              <a:ea typeface="Calibri"/>
              <a:cs typeface="Calibri"/>
              <a:sym typeface="Calibri"/>
            </a:endParaRPr>
          </a:p>
        </p:txBody>
      </p:sp>
      <p:sp>
        <p:nvSpPr>
          <p:cNvPr id="24" name="Google Shape;24;p3"/>
          <p:cNvSpPr/>
          <p:nvPr/>
        </p:nvSpPr>
        <p:spPr>
          <a:xfrm>
            <a:off x="457200" y="3794760"/>
            <a:ext cx="5577840" cy="777240"/>
          </a:xfrm>
          <a:prstGeom prst="roundRect">
            <a:avLst>
              <a:gd fmla="val 8235" name="adj"/>
            </a:avLst>
          </a:prstGeom>
          <a:solidFill>
            <a:srgbClr val="0F2744"/>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594360" y="3886200"/>
            <a:ext cx="5303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900"/>
              <a:buFont typeface="Calibri"/>
              <a:buNone/>
            </a:pPr>
            <a:r>
              <a:rPr b="1" i="0" lang="en-US" sz="900" u="none" cap="none" strike="noStrike">
                <a:solidFill>
                  <a:srgbClr val="C8A84B"/>
                </a:solidFill>
                <a:latin typeface="Tahoma"/>
                <a:ea typeface="Tahoma"/>
                <a:cs typeface="Tahoma"/>
                <a:sym typeface="Tahoma"/>
              </a:rPr>
              <a:t>KEY THESIS  </a:t>
            </a:r>
            <a:r>
              <a:rPr i="0" lang="en-US" sz="950" u="none" cap="none" strike="noStrike">
                <a:solidFill>
                  <a:srgbClr val="D0DCF0"/>
                </a:solidFill>
                <a:latin typeface="Tahoma"/>
                <a:ea typeface="Tahoma"/>
                <a:cs typeface="Tahoma"/>
                <a:sym typeface="Tahoma"/>
              </a:rPr>
              <a:t>Replacing emotional capital allocation with systematic portfolio construction</a:t>
            </a:r>
            <a:endParaRPr i="0" sz="900" u="none" cap="none" strike="noStrike">
              <a:solidFill>
                <a:schemeClr val="dk1"/>
              </a:solidFill>
              <a:latin typeface="Tahoma"/>
              <a:ea typeface="Tahoma"/>
              <a:cs typeface="Tahoma"/>
              <a:sym typeface="Tahoma"/>
            </a:endParaRPr>
          </a:p>
        </p:txBody>
      </p:sp>
      <p:sp>
        <p:nvSpPr>
          <p:cNvPr id="26" name="Google Shape;26;p3"/>
          <p:cNvSpPr/>
          <p:nvPr/>
        </p:nvSpPr>
        <p:spPr>
          <a:xfrm>
            <a:off x="6309360" y="822960"/>
            <a:ext cx="1143000" cy="1645800"/>
          </a:xfrm>
          <a:prstGeom prst="roundRect">
            <a:avLst>
              <a:gd fmla="val 6000" name="adj"/>
            </a:avLst>
          </a:prstGeom>
          <a:solidFill>
            <a:srgbClr val="0D2137"/>
          </a:solidFill>
          <a:ln cap="flat" cmpd="sng" w="19050">
            <a:solidFill>
              <a:srgbClr val="02C39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 name="Google Shape;27;p3"/>
          <p:cNvSpPr/>
          <p:nvPr/>
        </p:nvSpPr>
        <p:spPr>
          <a:xfrm>
            <a:off x="6309360" y="91440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8BA0BE"/>
                </a:solidFill>
                <a:latin typeface="Calibri"/>
                <a:ea typeface="Calibri"/>
                <a:cs typeface="Calibri"/>
                <a:sym typeface="Calibri"/>
              </a:rPr>
              <a:t>RETURN</a:t>
            </a:r>
            <a:endParaRPr b="0" i="0" sz="1400" u="none" cap="none" strike="noStrike">
              <a:solidFill>
                <a:srgbClr val="000000"/>
              </a:solidFill>
              <a:latin typeface="Arial"/>
              <a:ea typeface="Arial"/>
              <a:cs typeface="Arial"/>
              <a:sym typeface="Arial"/>
            </a:endParaRPr>
          </a:p>
        </p:txBody>
      </p:sp>
      <p:sp>
        <p:nvSpPr>
          <p:cNvPr id="28" name="Google Shape;28;p3"/>
          <p:cNvSpPr/>
          <p:nvPr/>
        </p:nvSpPr>
        <p:spPr>
          <a:xfrm>
            <a:off x="6309360" y="1415920"/>
            <a:ext cx="1143000" cy="42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2C39A"/>
                </a:solidFill>
                <a:latin typeface="Calibri"/>
                <a:ea typeface="Calibri"/>
                <a:cs typeface="Calibri"/>
                <a:sym typeface="Calibri"/>
              </a:rPr>
              <a:t>13.37%</a:t>
            </a:r>
            <a:endParaRPr b="0" i="0" sz="1400" u="none" cap="none" strike="noStrike">
              <a:solidFill>
                <a:srgbClr val="000000"/>
              </a:solidFill>
              <a:latin typeface="Arial"/>
              <a:ea typeface="Arial"/>
              <a:cs typeface="Arial"/>
              <a:sym typeface="Arial"/>
            </a:endParaRPr>
          </a:p>
        </p:txBody>
      </p:sp>
      <p:sp>
        <p:nvSpPr>
          <p:cNvPr id="29" name="Google Shape;29;p3"/>
          <p:cNvSpPr/>
          <p:nvPr/>
        </p:nvSpPr>
        <p:spPr>
          <a:xfrm>
            <a:off x="6309360" y="219888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5A7A9F"/>
                </a:solidFill>
                <a:latin typeface="Calibri"/>
                <a:ea typeface="Calibri"/>
                <a:cs typeface="Calibri"/>
                <a:sym typeface="Calibri"/>
              </a:rPr>
              <a:t>Annual Forecast</a:t>
            </a:r>
            <a:endParaRPr b="0" i="0" sz="1400" u="none" cap="none" strike="noStrike">
              <a:solidFill>
                <a:srgbClr val="000000"/>
              </a:solidFill>
              <a:latin typeface="Arial"/>
              <a:ea typeface="Arial"/>
              <a:cs typeface="Arial"/>
              <a:sym typeface="Arial"/>
            </a:endParaRPr>
          </a:p>
        </p:txBody>
      </p:sp>
      <p:sp>
        <p:nvSpPr>
          <p:cNvPr id="30" name="Google Shape;30;p3"/>
          <p:cNvSpPr/>
          <p:nvPr/>
        </p:nvSpPr>
        <p:spPr>
          <a:xfrm>
            <a:off x="7543800" y="822960"/>
            <a:ext cx="1143000" cy="1645800"/>
          </a:xfrm>
          <a:prstGeom prst="roundRect">
            <a:avLst>
              <a:gd fmla="val 6000" name="adj"/>
            </a:avLst>
          </a:prstGeom>
          <a:solidFill>
            <a:srgbClr val="0D2137"/>
          </a:solidFill>
          <a:ln cap="flat" cmpd="sng" w="19050">
            <a:solidFill>
              <a:srgbClr val="C8A84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3"/>
          <p:cNvSpPr/>
          <p:nvPr/>
        </p:nvSpPr>
        <p:spPr>
          <a:xfrm>
            <a:off x="7543800" y="91440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8BA0BE"/>
                </a:solidFill>
                <a:latin typeface="Calibri"/>
                <a:ea typeface="Calibri"/>
                <a:cs typeface="Calibri"/>
                <a:sym typeface="Calibri"/>
              </a:rPr>
              <a:t>ALPHA</a:t>
            </a:r>
            <a:endParaRPr b="0" i="0" sz="1400" u="none" cap="none" strike="noStrike">
              <a:solidFill>
                <a:srgbClr val="000000"/>
              </a:solidFill>
              <a:latin typeface="Arial"/>
              <a:ea typeface="Arial"/>
              <a:cs typeface="Arial"/>
              <a:sym typeface="Arial"/>
            </a:endParaRPr>
          </a:p>
        </p:txBody>
      </p:sp>
      <p:sp>
        <p:nvSpPr>
          <p:cNvPr id="32" name="Google Shape;32;p3"/>
          <p:cNvSpPr/>
          <p:nvPr/>
        </p:nvSpPr>
        <p:spPr>
          <a:xfrm>
            <a:off x="7543800" y="1415920"/>
            <a:ext cx="1143000" cy="42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C8A84B"/>
                </a:solidFill>
                <a:latin typeface="Calibri"/>
                <a:ea typeface="Calibri"/>
                <a:cs typeface="Calibri"/>
                <a:sym typeface="Calibri"/>
              </a:rPr>
              <a:t>+6.54%</a:t>
            </a:r>
            <a:endParaRPr b="0" i="0" sz="1400" u="none" cap="none" strike="noStrike">
              <a:solidFill>
                <a:srgbClr val="000000"/>
              </a:solidFill>
              <a:latin typeface="Arial"/>
              <a:ea typeface="Arial"/>
              <a:cs typeface="Arial"/>
              <a:sym typeface="Arial"/>
            </a:endParaRPr>
          </a:p>
        </p:txBody>
      </p:sp>
      <p:sp>
        <p:nvSpPr>
          <p:cNvPr id="33" name="Google Shape;33;p3"/>
          <p:cNvSpPr/>
          <p:nvPr/>
        </p:nvSpPr>
        <p:spPr>
          <a:xfrm>
            <a:off x="7543800" y="219888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5A7A9F"/>
                </a:solidFill>
                <a:latin typeface="Calibri"/>
                <a:ea typeface="Calibri"/>
                <a:cs typeface="Calibri"/>
                <a:sym typeface="Calibri"/>
              </a:rPr>
              <a:t>vs Benchmark</a:t>
            </a:r>
            <a:endParaRPr b="0" i="0" sz="1400" u="none" cap="none" strike="noStrike">
              <a:solidFill>
                <a:srgbClr val="000000"/>
              </a:solidFill>
              <a:latin typeface="Arial"/>
              <a:ea typeface="Arial"/>
              <a:cs typeface="Arial"/>
              <a:sym typeface="Arial"/>
            </a:endParaRPr>
          </a:p>
        </p:txBody>
      </p:sp>
      <p:sp>
        <p:nvSpPr>
          <p:cNvPr id="34" name="Google Shape;34;p3"/>
          <p:cNvSpPr/>
          <p:nvPr/>
        </p:nvSpPr>
        <p:spPr>
          <a:xfrm>
            <a:off x="6309360" y="2560320"/>
            <a:ext cx="1143000" cy="1645800"/>
          </a:xfrm>
          <a:prstGeom prst="roundRect">
            <a:avLst>
              <a:gd fmla="val 6000" name="adj"/>
            </a:avLst>
          </a:prstGeom>
          <a:solidFill>
            <a:srgbClr val="0D2137"/>
          </a:solidFill>
          <a:ln cap="flat" cmpd="sng" w="19050">
            <a:solidFill>
              <a:srgbClr val="4A90D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 name="Google Shape;35;p3"/>
          <p:cNvSpPr/>
          <p:nvPr/>
        </p:nvSpPr>
        <p:spPr>
          <a:xfrm>
            <a:off x="6309360" y="265176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8BA0BE"/>
                </a:solidFill>
                <a:latin typeface="Calibri"/>
                <a:ea typeface="Calibri"/>
                <a:cs typeface="Calibri"/>
                <a:sym typeface="Calibri"/>
              </a:rPr>
              <a:t>VOLATILITY</a:t>
            </a:r>
            <a:endParaRPr b="0" i="0" sz="1400" u="none" cap="none" strike="noStrike">
              <a:solidFill>
                <a:srgbClr val="000000"/>
              </a:solidFill>
              <a:latin typeface="Arial"/>
              <a:ea typeface="Arial"/>
              <a:cs typeface="Arial"/>
              <a:sym typeface="Arial"/>
            </a:endParaRPr>
          </a:p>
        </p:txBody>
      </p:sp>
      <p:sp>
        <p:nvSpPr>
          <p:cNvPr id="36" name="Google Shape;36;p3"/>
          <p:cNvSpPr/>
          <p:nvPr/>
        </p:nvSpPr>
        <p:spPr>
          <a:xfrm>
            <a:off x="6309360" y="3153280"/>
            <a:ext cx="1143000" cy="42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4A90D9"/>
                </a:solidFill>
                <a:latin typeface="Calibri"/>
                <a:ea typeface="Calibri"/>
                <a:cs typeface="Calibri"/>
                <a:sym typeface="Calibri"/>
              </a:rPr>
              <a:t>13.30%</a:t>
            </a:r>
            <a:endParaRPr b="0" i="0" sz="1400" u="none" cap="none" strike="noStrike">
              <a:solidFill>
                <a:srgbClr val="000000"/>
              </a:solidFill>
              <a:latin typeface="Arial"/>
              <a:ea typeface="Arial"/>
              <a:cs typeface="Arial"/>
              <a:sym typeface="Arial"/>
            </a:endParaRPr>
          </a:p>
        </p:txBody>
      </p:sp>
      <p:sp>
        <p:nvSpPr>
          <p:cNvPr id="37" name="Google Shape;37;p3"/>
          <p:cNvSpPr/>
          <p:nvPr/>
        </p:nvSpPr>
        <p:spPr>
          <a:xfrm>
            <a:off x="6309360" y="393624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5A7A9F"/>
                </a:solidFill>
                <a:latin typeface="Calibri"/>
                <a:ea typeface="Calibri"/>
                <a:cs typeface="Calibri"/>
                <a:sym typeface="Calibri"/>
              </a:rPr>
              <a:t>Annual Std Dev</a:t>
            </a:r>
            <a:endParaRPr b="0" i="0" sz="1400" u="none" cap="none" strike="noStrike">
              <a:solidFill>
                <a:srgbClr val="000000"/>
              </a:solidFill>
              <a:latin typeface="Arial"/>
              <a:ea typeface="Arial"/>
              <a:cs typeface="Arial"/>
              <a:sym typeface="Arial"/>
            </a:endParaRPr>
          </a:p>
        </p:txBody>
      </p:sp>
      <p:sp>
        <p:nvSpPr>
          <p:cNvPr id="38" name="Google Shape;38;p3"/>
          <p:cNvSpPr/>
          <p:nvPr/>
        </p:nvSpPr>
        <p:spPr>
          <a:xfrm>
            <a:off x="7543800" y="2560320"/>
            <a:ext cx="1143000" cy="1645800"/>
          </a:xfrm>
          <a:prstGeom prst="roundRect">
            <a:avLst>
              <a:gd fmla="val 6000" name="adj"/>
            </a:avLst>
          </a:prstGeom>
          <a:solidFill>
            <a:srgbClr val="0D2137"/>
          </a:solidFill>
          <a:ln cap="flat" cmpd="sng" w="19050">
            <a:solidFill>
              <a:srgbClr val="FF8A6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3"/>
          <p:cNvSpPr/>
          <p:nvPr/>
        </p:nvSpPr>
        <p:spPr>
          <a:xfrm>
            <a:off x="7543800" y="265176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8BA0BE"/>
                </a:solidFill>
                <a:latin typeface="Calibri"/>
                <a:ea typeface="Calibri"/>
                <a:cs typeface="Calibri"/>
                <a:sym typeface="Calibri"/>
              </a:rPr>
              <a:t>BETA</a:t>
            </a:r>
            <a:endParaRPr b="0" i="0" sz="1400" u="none" cap="none" strike="noStrike">
              <a:solidFill>
                <a:srgbClr val="000000"/>
              </a:solidFill>
              <a:latin typeface="Arial"/>
              <a:ea typeface="Arial"/>
              <a:cs typeface="Arial"/>
              <a:sym typeface="Arial"/>
            </a:endParaRPr>
          </a:p>
        </p:txBody>
      </p:sp>
      <p:sp>
        <p:nvSpPr>
          <p:cNvPr id="40" name="Google Shape;40;p3"/>
          <p:cNvSpPr/>
          <p:nvPr/>
        </p:nvSpPr>
        <p:spPr>
          <a:xfrm>
            <a:off x="7543800" y="3153280"/>
            <a:ext cx="1143000" cy="42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8A65"/>
                </a:solidFill>
                <a:latin typeface="Calibri"/>
                <a:ea typeface="Calibri"/>
                <a:cs typeface="Calibri"/>
                <a:sym typeface="Calibri"/>
              </a:rPr>
              <a:t>0.830</a:t>
            </a:r>
            <a:endParaRPr b="0" i="0" sz="1400" u="none" cap="none" strike="noStrike">
              <a:solidFill>
                <a:srgbClr val="000000"/>
              </a:solidFill>
              <a:latin typeface="Arial"/>
              <a:ea typeface="Arial"/>
              <a:cs typeface="Arial"/>
              <a:sym typeface="Arial"/>
            </a:endParaRPr>
          </a:p>
        </p:txBody>
      </p:sp>
      <p:sp>
        <p:nvSpPr>
          <p:cNvPr id="41" name="Google Shape;41;p3"/>
          <p:cNvSpPr/>
          <p:nvPr/>
        </p:nvSpPr>
        <p:spPr>
          <a:xfrm>
            <a:off x="7543800" y="3936240"/>
            <a:ext cx="1143000" cy="20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50"/>
              <a:buFont typeface="Arial"/>
              <a:buNone/>
            </a:pPr>
            <a:r>
              <a:rPr b="0" i="0" lang="en-US" sz="750" u="none" cap="none" strike="noStrike">
                <a:solidFill>
                  <a:srgbClr val="5A7A9F"/>
                </a:solidFill>
                <a:latin typeface="Calibri"/>
                <a:ea typeface="Calibri"/>
                <a:cs typeface="Calibri"/>
                <a:sym typeface="Calibri"/>
              </a:rPr>
              <a:t>Market Sensitivity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sp>
        <p:nvSpPr>
          <p:cNvPr id="47" name="Google Shape;47;p4"/>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365760" y="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ahoma"/>
                <a:ea typeface="Tahoma"/>
                <a:cs typeface="Tahoma"/>
                <a:sym typeface="Tahoma"/>
              </a:rPr>
              <a:t>EXECUTIVE SUMMARY &amp; PORTFOLIO SCORECARD</a:t>
            </a:r>
            <a:endParaRPr i="0" sz="1300" u="none" cap="none" strike="noStrike">
              <a:solidFill>
                <a:schemeClr val="dk1"/>
              </a:solidFill>
              <a:latin typeface="Tahoma"/>
              <a:ea typeface="Tahoma"/>
              <a:cs typeface="Tahoma"/>
              <a:sym typeface="Tahoma"/>
            </a:endParaRPr>
          </a:p>
        </p:txBody>
      </p:sp>
      <p:sp>
        <p:nvSpPr>
          <p:cNvPr id="49" name="Google Shape;49;p4"/>
          <p:cNvSpPr/>
          <p:nvPr/>
        </p:nvSpPr>
        <p:spPr>
          <a:xfrm>
            <a:off x="7772400" y="0"/>
            <a:ext cx="109728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02</a:t>
            </a:r>
            <a:endParaRPr b="0" i="0" sz="900" u="none" cap="none" strike="noStrike">
              <a:solidFill>
                <a:schemeClr val="dk1"/>
              </a:solidFill>
              <a:latin typeface="Calibri"/>
              <a:ea typeface="Calibri"/>
              <a:cs typeface="Calibri"/>
              <a:sym typeface="Calibri"/>
            </a:endParaRPr>
          </a:p>
        </p:txBody>
      </p:sp>
      <p:sp>
        <p:nvSpPr>
          <p:cNvPr id="50" name="Google Shape;50;p4"/>
          <p:cNvSpPr/>
          <p:nvPr/>
        </p:nvSpPr>
        <p:spPr>
          <a:xfrm>
            <a:off x="365760" y="804672"/>
            <a:ext cx="8412480" cy="530352"/>
          </a:xfrm>
          <a:prstGeom prst="roundRect">
            <a:avLst>
              <a:gd fmla="val 10345"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548640" y="850392"/>
            <a:ext cx="80467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50"/>
              <a:buFont typeface="Calibri"/>
              <a:buNone/>
            </a:pPr>
            <a:r>
              <a:rPr b="1" i="0" lang="en-US" sz="950" u="none" cap="none" strike="noStrike">
                <a:solidFill>
                  <a:srgbClr val="0A192F"/>
                </a:solidFill>
                <a:latin typeface="Roboto"/>
                <a:ea typeface="Roboto"/>
                <a:cs typeface="Roboto"/>
                <a:sym typeface="Roboto"/>
              </a:rPr>
              <a:t>INVESTMENT PHILOSOPHY  </a:t>
            </a:r>
            <a:r>
              <a:rPr i="0" lang="en-US" sz="950" u="none" cap="none" strike="noStrike">
                <a:solidFill>
                  <a:srgbClr val="4A5568"/>
                </a:solidFill>
                <a:latin typeface="Roboto"/>
                <a:ea typeface="Roboto"/>
                <a:cs typeface="Roboto"/>
                <a:sym typeface="Roboto"/>
              </a:rPr>
              <a:t>Risk is allocated first. Capital is allocated second. Objective: maximize risk-adjusted returns within predefined risk budgets.</a:t>
            </a:r>
            <a:endParaRPr i="0" sz="950" u="none" cap="none" strike="noStrike">
              <a:solidFill>
                <a:schemeClr val="dk1"/>
              </a:solidFill>
              <a:latin typeface="Roboto"/>
              <a:ea typeface="Roboto"/>
              <a:cs typeface="Roboto"/>
              <a:sym typeface="Roboto"/>
            </a:endParaRPr>
          </a:p>
        </p:txBody>
      </p:sp>
      <p:sp>
        <p:nvSpPr>
          <p:cNvPr id="52" name="Google Shape;52;p4"/>
          <p:cNvSpPr/>
          <p:nvPr/>
        </p:nvSpPr>
        <p:spPr>
          <a:xfrm>
            <a:off x="347472" y="1463040"/>
            <a:ext cx="2377440" cy="777240"/>
          </a:xfrm>
          <a:prstGeom prst="roundRect">
            <a:avLst>
              <a:gd fmla="val 7059"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457200" y="1517904"/>
            <a:ext cx="21579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2200"/>
              <a:buFont typeface="Cambria"/>
              <a:buNone/>
            </a:pPr>
            <a:r>
              <a:rPr b="1" i="0" lang="en-US" sz="2200" u="none" cap="none" strike="noStrike">
                <a:solidFill>
                  <a:srgbClr val="2E8B57"/>
                </a:solidFill>
                <a:latin typeface="Cambria"/>
                <a:ea typeface="Cambria"/>
                <a:cs typeface="Cambria"/>
                <a:sym typeface="Cambria"/>
              </a:rPr>
              <a:t>13.37%</a:t>
            </a:r>
            <a:endParaRPr b="0" i="0" sz="2200" u="none" cap="none" strike="noStrike">
              <a:solidFill>
                <a:schemeClr val="dk1"/>
              </a:solidFill>
              <a:latin typeface="Calibri"/>
              <a:ea typeface="Calibri"/>
              <a:cs typeface="Calibri"/>
              <a:sym typeface="Calibri"/>
            </a:endParaRPr>
          </a:p>
        </p:txBody>
      </p:sp>
      <p:sp>
        <p:nvSpPr>
          <p:cNvPr id="54" name="Google Shape;54;p4"/>
          <p:cNvSpPr/>
          <p:nvPr/>
        </p:nvSpPr>
        <p:spPr>
          <a:xfrm>
            <a:off x="457200" y="1892808"/>
            <a:ext cx="215798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50"/>
              <a:buFont typeface="Calibri"/>
              <a:buNone/>
            </a:pPr>
            <a:r>
              <a:rPr b="1" i="0" lang="en-US" sz="950" u="none" cap="none" strike="noStrike">
                <a:solidFill>
                  <a:srgbClr val="0A192F"/>
                </a:solidFill>
                <a:latin typeface="Roboto"/>
                <a:ea typeface="Roboto"/>
                <a:cs typeface="Roboto"/>
                <a:sym typeface="Roboto"/>
              </a:rPr>
              <a:t>Return Forecast</a:t>
            </a:r>
            <a:endParaRPr i="0" sz="950" u="none" cap="none" strike="noStrike">
              <a:solidFill>
                <a:schemeClr val="dk1"/>
              </a:solidFill>
              <a:latin typeface="Roboto"/>
              <a:ea typeface="Roboto"/>
              <a:cs typeface="Roboto"/>
              <a:sym typeface="Roboto"/>
            </a:endParaRPr>
          </a:p>
        </p:txBody>
      </p:sp>
      <p:sp>
        <p:nvSpPr>
          <p:cNvPr id="55" name="Google Shape;55;p4"/>
          <p:cNvSpPr/>
          <p:nvPr/>
        </p:nvSpPr>
        <p:spPr>
          <a:xfrm>
            <a:off x="457200" y="2039112"/>
            <a:ext cx="21579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b="0" i="0" lang="en-US" sz="750" u="none" cap="none" strike="noStrike">
                <a:solidFill>
                  <a:srgbClr val="708090"/>
                </a:solidFill>
                <a:latin typeface="Calibri"/>
                <a:ea typeface="Calibri"/>
                <a:cs typeface="Calibri"/>
                <a:sym typeface="Calibri"/>
              </a:rPr>
              <a:t>Annual Expected</a:t>
            </a:r>
            <a:endParaRPr b="0" i="0" sz="750" u="none" cap="none" strike="noStrike">
              <a:solidFill>
                <a:schemeClr val="dk1"/>
              </a:solidFill>
              <a:latin typeface="Calibri"/>
              <a:ea typeface="Calibri"/>
              <a:cs typeface="Calibri"/>
              <a:sym typeface="Calibri"/>
            </a:endParaRPr>
          </a:p>
        </p:txBody>
      </p:sp>
      <p:sp>
        <p:nvSpPr>
          <p:cNvPr id="56" name="Google Shape;56;p4"/>
          <p:cNvSpPr/>
          <p:nvPr/>
        </p:nvSpPr>
        <p:spPr>
          <a:xfrm>
            <a:off x="2907792" y="1463040"/>
            <a:ext cx="2377440" cy="777240"/>
          </a:xfrm>
          <a:prstGeom prst="roundRect">
            <a:avLst>
              <a:gd fmla="val 7059"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3017520" y="1517904"/>
            <a:ext cx="21579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2200"/>
              <a:buFont typeface="Cambria"/>
              <a:buNone/>
            </a:pPr>
            <a:r>
              <a:rPr b="1" i="0" lang="en-US" sz="2200" u="none" cap="none" strike="noStrike">
                <a:solidFill>
                  <a:srgbClr val="2E8B57"/>
                </a:solidFill>
                <a:latin typeface="Cambria"/>
                <a:ea typeface="Cambria"/>
                <a:cs typeface="Cambria"/>
                <a:sym typeface="Cambria"/>
              </a:rPr>
              <a:t>+6.54%</a:t>
            </a:r>
            <a:endParaRPr b="0" i="0" sz="2200" u="none" cap="none" strike="noStrike">
              <a:solidFill>
                <a:schemeClr val="dk1"/>
              </a:solidFill>
              <a:latin typeface="Calibri"/>
              <a:ea typeface="Calibri"/>
              <a:cs typeface="Calibri"/>
              <a:sym typeface="Calibri"/>
            </a:endParaRPr>
          </a:p>
        </p:txBody>
      </p:sp>
      <p:sp>
        <p:nvSpPr>
          <p:cNvPr id="58" name="Google Shape;58;p4"/>
          <p:cNvSpPr/>
          <p:nvPr/>
        </p:nvSpPr>
        <p:spPr>
          <a:xfrm>
            <a:off x="3017520" y="1892808"/>
            <a:ext cx="215798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50"/>
              <a:buFont typeface="Calibri"/>
              <a:buNone/>
            </a:pPr>
            <a:r>
              <a:rPr b="1" i="0" lang="en-US" sz="950" u="none" cap="none" strike="noStrike">
                <a:solidFill>
                  <a:srgbClr val="0A192F"/>
                </a:solidFill>
                <a:latin typeface="Calibri"/>
                <a:ea typeface="Calibri"/>
                <a:cs typeface="Calibri"/>
                <a:sym typeface="Calibri"/>
              </a:rPr>
              <a:t>Expected Alpha</a:t>
            </a:r>
            <a:endParaRPr b="0" i="0" sz="950" u="none" cap="none" strike="noStrike">
              <a:solidFill>
                <a:schemeClr val="dk1"/>
              </a:solidFill>
              <a:latin typeface="Calibri"/>
              <a:ea typeface="Calibri"/>
              <a:cs typeface="Calibri"/>
              <a:sym typeface="Calibri"/>
            </a:endParaRPr>
          </a:p>
        </p:txBody>
      </p:sp>
      <p:sp>
        <p:nvSpPr>
          <p:cNvPr id="59" name="Google Shape;59;p4"/>
          <p:cNvSpPr/>
          <p:nvPr/>
        </p:nvSpPr>
        <p:spPr>
          <a:xfrm>
            <a:off x="3017520" y="2039112"/>
            <a:ext cx="21579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b="0" i="0" lang="en-US" sz="750" u="none" cap="none" strike="noStrike">
                <a:solidFill>
                  <a:srgbClr val="708090"/>
                </a:solidFill>
                <a:latin typeface="Calibri"/>
                <a:ea typeface="Calibri"/>
                <a:cs typeface="Calibri"/>
                <a:sym typeface="Calibri"/>
              </a:rPr>
              <a:t>vs Benchmark</a:t>
            </a:r>
            <a:endParaRPr b="0" i="0" sz="750" u="none" cap="none" strike="noStrike">
              <a:solidFill>
                <a:schemeClr val="dk1"/>
              </a:solidFill>
              <a:latin typeface="Calibri"/>
              <a:ea typeface="Calibri"/>
              <a:cs typeface="Calibri"/>
              <a:sym typeface="Calibri"/>
            </a:endParaRPr>
          </a:p>
        </p:txBody>
      </p:sp>
      <p:sp>
        <p:nvSpPr>
          <p:cNvPr id="60" name="Google Shape;60;p4"/>
          <p:cNvSpPr/>
          <p:nvPr/>
        </p:nvSpPr>
        <p:spPr>
          <a:xfrm>
            <a:off x="347472" y="2395728"/>
            <a:ext cx="2377440" cy="777240"/>
          </a:xfrm>
          <a:prstGeom prst="roundRect">
            <a:avLst>
              <a:gd fmla="val 7059"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457200" y="2450592"/>
            <a:ext cx="21579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2200"/>
              <a:buFont typeface="Cambria"/>
              <a:buNone/>
            </a:pPr>
            <a:r>
              <a:rPr b="1" i="0" lang="en-US" sz="2200" u="none" cap="none" strike="noStrike">
                <a:solidFill>
                  <a:srgbClr val="0A192F"/>
                </a:solidFill>
                <a:latin typeface="Cambria"/>
                <a:ea typeface="Cambria"/>
                <a:cs typeface="Cambria"/>
                <a:sym typeface="Cambria"/>
              </a:rPr>
              <a:t>13.30%</a:t>
            </a:r>
            <a:endParaRPr b="0" i="0" sz="2200" u="none" cap="none" strike="noStrike">
              <a:solidFill>
                <a:schemeClr val="dk1"/>
              </a:solidFill>
              <a:latin typeface="Calibri"/>
              <a:ea typeface="Calibri"/>
              <a:cs typeface="Calibri"/>
              <a:sym typeface="Calibri"/>
            </a:endParaRPr>
          </a:p>
        </p:txBody>
      </p:sp>
      <p:sp>
        <p:nvSpPr>
          <p:cNvPr id="62" name="Google Shape;62;p4"/>
          <p:cNvSpPr/>
          <p:nvPr/>
        </p:nvSpPr>
        <p:spPr>
          <a:xfrm>
            <a:off x="457200" y="2825496"/>
            <a:ext cx="215798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50"/>
              <a:buFont typeface="Calibri"/>
              <a:buNone/>
            </a:pPr>
            <a:r>
              <a:rPr b="1" i="0" lang="en-US" sz="950" u="none" cap="none" strike="noStrike">
                <a:solidFill>
                  <a:srgbClr val="0A192F"/>
                </a:solidFill>
                <a:latin typeface="Calibri"/>
                <a:ea typeface="Calibri"/>
                <a:cs typeface="Calibri"/>
                <a:sym typeface="Calibri"/>
              </a:rPr>
              <a:t>Portfolio Volatility</a:t>
            </a:r>
            <a:endParaRPr b="0" i="0" sz="950" u="none" cap="none" strike="noStrike">
              <a:solidFill>
                <a:schemeClr val="dk1"/>
              </a:solidFill>
              <a:latin typeface="Calibri"/>
              <a:ea typeface="Calibri"/>
              <a:cs typeface="Calibri"/>
              <a:sym typeface="Calibri"/>
            </a:endParaRPr>
          </a:p>
        </p:txBody>
      </p:sp>
      <p:sp>
        <p:nvSpPr>
          <p:cNvPr id="63" name="Google Shape;63;p4"/>
          <p:cNvSpPr/>
          <p:nvPr/>
        </p:nvSpPr>
        <p:spPr>
          <a:xfrm>
            <a:off x="457200" y="2971800"/>
            <a:ext cx="21579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b="0" i="0" lang="en-US" sz="750" u="none" cap="none" strike="noStrike">
                <a:solidFill>
                  <a:srgbClr val="708090"/>
                </a:solidFill>
                <a:latin typeface="Calibri"/>
                <a:ea typeface="Calibri"/>
                <a:cs typeface="Calibri"/>
                <a:sym typeface="Calibri"/>
              </a:rPr>
              <a:t>Annual Std Dev</a:t>
            </a:r>
            <a:endParaRPr b="0" i="0" sz="750" u="none" cap="none" strike="noStrike">
              <a:solidFill>
                <a:schemeClr val="dk1"/>
              </a:solidFill>
              <a:latin typeface="Calibri"/>
              <a:ea typeface="Calibri"/>
              <a:cs typeface="Calibri"/>
              <a:sym typeface="Calibri"/>
            </a:endParaRPr>
          </a:p>
        </p:txBody>
      </p:sp>
      <p:sp>
        <p:nvSpPr>
          <p:cNvPr id="64" name="Google Shape;64;p4"/>
          <p:cNvSpPr/>
          <p:nvPr/>
        </p:nvSpPr>
        <p:spPr>
          <a:xfrm>
            <a:off x="2907792" y="2395728"/>
            <a:ext cx="2377440" cy="777240"/>
          </a:xfrm>
          <a:prstGeom prst="roundRect">
            <a:avLst>
              <a:gd fmla="val 7059"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3017520" y="2450592"/>
            <a:ext cx="21579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2200"/>
              <a:buFont typeface="Cambria"/>
              <a:buNone/>
            </a:pPr>
            <a:r>
              <a:rPr b="1" i="0" lang="en-US" sz="2200" u="none" cap="none" strike="noStrike">
                <a:solidFill>
                  <a:srgbClr val="0A192F"/>
                </a:solidFill>
                <a:latin typeface="Cambria"/>
                <a:ea typeface="Cambria"/>
                <a:cs typeface="Cambria"/>
                <a:sym typeface="Cambria"/>
              </a:rPr>
              <a:t>0.830</a:t>
            </a:r>
            <a:endParaRPr b="0" i="0" sz="2200" u="none" cap="none" strike="noStrike">
              <a:solidFill>
                <a:schemeClr val="dk1"/>
              </a:solidFill>
              <a:latin typeface="Calibri"/>
              <a:ea typeface="Calibri"/>
              <a:cs typeface="Calibri"/>
              <a:sym typeface="Calibri"/>
            </a:endParaRPr>
          </a:p>
        </p:txBody>
      </p:sp>
      <p:sp>
        <p:nvSpPr>
          <p:cNvPr id="66" name="Google Shape;66;p4"/>
          <p:cNvSpPr/>
          <p:nvPr/>
        </p:nvSpPr>
        <p:spPr>
          <a:xfrm>
            <a:off x="3017520" y="2825496"/>
            <a:ext cx="215798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50"/>
              <a:buFont typeface="Calibri"/>
              <a:buNone/>
            </a:pPr>
            <a:r>
              <a:rPr b="1" i="0" lang="en-US" sz="950" u="none" cap="none" strike="noStrike">
                <a:solidFill>
                  <a:srgbClr val="0A192F"/>
                </a:solidFill>
                <a:latin typeface="Calibri"/>
                <a:ea typeface="Calibri"/>
                <a:cs typeface="Calibri"/>
                <a:sym typeface="Calibri"/>
              </a:rPr>
              <a:t>Portfolio Beta</a:t>
            </a:r>
            <a:endParaRPr b="0" i="0" sz="950" u="none" cap="none" strike="noStrike">
              <a:solidFill>
                <a:schemeClr val="dk1"/>
              </a:solidFill>
              <a:latin typeface="Calibri"/>
              <a:ea typeface="Calibri"/>
              <a:cs typeface="Calibri"/>
              <a:sym typeface="Calibri"/>
            </a:endParaRPr>
          </a:p>
        </p:txBody>
      </p:sp>
      <p:sp>
        <p:nvSpPr>
          <p:cNvPr id="67" name="Google Shape;67;p4"/>
          <p:cNvSpPr/>
          <p:nvPr/>
        </p:nvSpPr>
        <p:spPr>
          <a:xfrm>
            <a:off x="3017520" y="2971800"/>
            <a:ext cx="21579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b="0" i="0" lang="en-US" sz="750" u="none" cap="none" strike="noStrike">
                <a:solidFill>
                  <a:srgbClr val="708090"/>
                </a:solidFill>
                <a:latin typeface="Calibri"/>
                <a:ea typeface="Calibri"/>
                <a:cs typeface="Calibri"/>
                <a:sym typeface="Calibri"/>
              </a:rPr>
              <a:t>Market Sensitivity</a:t>
            </a:r>
            <a:endParaRPr b="0" i="0" sz="750" u="none" cap="none" strike="noStrike">
              <a:solidFill>
                <a:schemeClr val="dk1"/>
              </a:solidFill>
              <a:latin typeface="Calibri"/>
              <a:ea typeface="Calibri"/>
              <a:cs typeface="Calibri"/>
              <a:sym typeface="Calibri"/>
            </a:endParaRPr>
          </a:p>
        </p:txBody>
      </p:sp>
      <p:sp>
        <p:nvSpPr>
          <p:cNvPr id="68" name="Google Shape;68;p4"/>
          <p:cNvSpPr/>
          <p:nvPr/>
        </p:nvSpPr>
        <p:spPr>
          <a:xfrm>
            <a:off x="347472" y="3328416"/>
            <a:ext cx="2377440" cy="777240"/>
          </a:xfrm>
          <a:prstGeom prst="roundRect">
            <a:avLst>
              <a:gd fmla="val 7059"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457200" y="3383280"/>
            <a:ext cx="21579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F50"/>
              </a:buClr>
              <a:buSzPts val="2200"/>
              <a:buFont typeface="Cambria"/>
              <a:buNone/>
            </a:pPr>
            <a:r>
              <a:rPr b="1" i="0" lang="en-US" sz="2200" u="none" cap="none" strike="noStrike">
                <a:solidFill>
                  <a:srgbClr val="FF7F50"/>
                </a:solidFill>
                <a:latin typeface="Cambria"/>
                <a:ea typeface="Cambria"/>
                <a:cs typeface="Cambria"/>
                <a:sym typeface="Cambria"/>
              </a:rPr>
              <a:t>-14.31%</a:t>
            </a:r>
            <a:endParaRPr b="0" i="0" sz="2200" u="none" cap="none" strike="noStrike">
              <a:solidFill>
                <a:schemeClr val="dk1"/>
              </a:solidFill>
              <a:latin typeface="Calibri"/>
              <a:ea typeface="Calibri"/>
              <a:cs typeface="Calibri"/>
              <a:sym typeface="Calibri"/>
            </a:endParaRPr>
          </a:p>
        </p:txBody>
      </p:sp>
      <p:sp>
        <p:nvSpPr>
          <p:cNvPr id="70" name="Google Shape;70;p4"/>
          <p:cNvSpPr/>
          <p:nvPr/>
        </p:nvSpPr>
        <p:spPr>
          <a:xfrm>
            <a:off x="457200" y="3758184"/>
            <a:ext cx="215798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50"/>
              <a:buFont typeface="Calibri"/>
              <a:buNone/>
            </a:pPr>
            <a:r>
              <a:rPr b="1" i="0" lang="en-US" sz="950" u="none" cap="none" strike="noStrike">
                <a:solidFill>
                  <a:srgbClr val="0A192F"/>
                </a:solidFill>
                <a:latin typeface="Calibri"/>
                <a:ea typeface="Calibri"/>
                <a:cs typeface="Calibri"/>
                <a:sym typeface="Calibri"/>
              </a:rPr>
              <a:t>Max Drawdown</a:t>
            </a:r>
            <a:endParaRPr b="0" i="0" sz="950" u="none" cap="none" strike="noStrike">
              <a:solidFill>
                <a:schemeClr val="dk1"/>
              </a:solidFill>
              <a:latin typeface="Calibri"/>
              <a:ea typeface="Calibri"/>
              <a:cs typeface="Calibri"/>
              <a:sym typeface="Calibri"/>
            </a:endParaRPr>
          </a:p>
        </p:txBody>
      </p:sp>
      <p:sp>
        <p:nvSpPr>
          <p:cNvPr id="71" name="Google Shape;71;p4"/>
          <p:cNvSpPr/>
          <p:nvPr/>
        </p:nvSpPr>
        <p:spPr>
          <a:xfrm>
            <a:off x="457200" y="3904488"/>
            <a:ext cx="21579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b="0" i="0" lang="en-US" sz="750" u="none" cap="none" strike="noStrike">
                <a:solidFill>
                  <a:srgbClr val="708090"/>
                </a:solidFill>
                <a:latin typeface="Calibri"/>
                <a:ea typeface="Calibri"/>
                <a:cs typeface="Calibri"/>
                <a:sym typeface="Calibri"/>
              </a:rPr>
              <a:t>Peak-to-Trough</a:t>
            </a:r>
            <a:endParaRPr b="0" i="0" sz="750" u="none" cap="none" strike="noStrike">
              <a:solidFill>
                <a:schemeClr val="dk1"/>
              </a:solidFill>
              <a:latin typeface="Calibri"/>
              <a:ea typeface="Calibri"/>
              <a:cs typeface="Calibri"/>
              <a:sym typeface="Calibri"/>
            </a:endParaRPr>
          </a:p>
        </p:txBody>
      </p:sp>
      <p:sp>
        <p:nvSpPr>
          <p:cNvPr id="72" name="Google Shape;72;p4"/>
          <p:cNvSpPr/>
          <p:nvPr/>
        </p:nvSpPr>
        <p:spPr>
          <a:xfrm>
            <a:off x="2907792" y="3328416"/>
            <a:ext cx="2377440" cy="777240"/>
          </a:xfrm>
          <a:prstGeom prst="roundRect">
            <a:avLst>
              <a:gd fmla="val 7059"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3017520" y="3383280"/>
            <a:ext cx="215798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2200"/>
              <a:buFont typeface="Cambria"/>
              <a:buNone/>
            </a:pPr>
            <a:r>
              <a:rPr b="1" i="0" lang="en-US" sz="2200" u="none" cap="none" strike="noStrike">
                <a:solidFill>
                  <a:srgbClr val="2E8B57"/>
                </a:solidFill>
                <a:latin typeface="Cambria"/>
                <a:ea typeface="Cambria"/>
                <a:cs typeface="Cambria"/>
                <a:sym typeface="Cambria"/>
              </a:rPr>
              <a:t>0.694</a:t>
            </a:r>
            <a:endParaRPr b="0" i="0" sz="2200" u="none" cap="none" strike="noStrike">
              <a:solidFill>
                <a:schemeClr val="dk1"/>
              </a:solidFill>
              <a:latin typeface="Calibri"/>
              <a:ea typeface="Calibri"/>
              <a:cs typeface="Calibri"/>
              <a:sym typeface="Calibri"/>
            </a:endParaRPr>
          </a:p>
        </p:txBody>
      </p:sp>
      <p:sp>
        <p:nvSpPr>
          <p:cNvPr id="74" name="Google Shape;74;p4"/>
          <p:cNvSpPr/>
          <p:nvPr/>
        </p:nvSpPr>
        <p:spPr>
          <a:xfrm>
            <a:off x="3017520" y="3758184"/>
            <a:ext cx="2157984"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50"/>
              <a:buFont typeface="Calibri"/>
              <a:buNone/>
            </a:pPr>
            <a:r>
              <a:rPr b="1" i="0" lang="en-US" sz="950" u="none" cap="none" strike="noStrike">
                <a:solidFill>
                  <a:srgbClr val="0A192F"/>
                </a:solidFill>
                <a:latin typeface="Calibri"/>
                <a:ea typeface="Calibri"/>
                <a:cs typeface="Calibri"/>
                <a:sym typeface="Calibri"/>
              </a:rPr>
              <a:t>Fund. Score</a:t>
            </a:r>
            <a:endParaRPr b="0" i="0" sz="950" u="none" cap="none" strike="noStrike">
              <a:solidFill>
                <a:schemeClr val="dk1"/>
              </a:solidFill>
              <a:latin typeface="Calibri"/>
              <a:ea typeface="Calibri"/>
              <a:cs typeface="Calibri"/>
              <a:sym typeface="Calibri"/>
            </a:endParaRPr>
          </a:p>
        </p:txBody>
      </p:sp>
      <p:sp>
        <p:nvSpPr>
          <p:cNvPr id="75" name="Google Shape;75;p4"/>
          <p:cNvSpPr/>
          <p:nvPr/>
        </p:nvSpPr>
        <p:spPr>
          <a:xfrm>
            <a:off x="3017520" y="3904488"/>
            <a:ext cx="2157984"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b="0" i="0" lang="en-US" sz="750" u="none" cap="none" strike="noStrike">
                <a:solidFill>
                  <a:srgbClr val="708090"/>
                </a:solidFill>
                <a:latin typeface="Calibri"/>
                <a:ea typeface="Calibri"/>
                <a:cs typeface="Calibri"/>
                <a:sym typeface="Calibri"/>
              </a:rPr>
              <a:t>Weighted Average</a:t>
            </a:r>
            <a:endParaRPr b="0" i="0" sz="750" u="none" cap="none" strike="noStrike">
              <a:solidFill>
                <a:schemeClr val="dk1"/>
              </a:solidFill>
              <a:latin typeface="Calibri"/>
              <a:ea typeface="Calibri"/>
              <a:cs typeface="Calibri"/>
              <a:sym typeface="Calibri"/>
            </a:endParaRPr>
          </a:p>
        </p:txBody>
      </p:sp>
      <p:sp>
        <p:nvSpPr>
          <p:cNvPr id="76" name="Google Shape;76;p4"/>
          <p:cNvSpPr/>
          <p:nvPr/>
        </p:nvSpPr>
        <p:spPr>
          <a:xfrm>
            <a:off x="5394960" y="1444752"/>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TARGET VS ACHIEVED SCORECARD</a:t>
            </a:r>
            <a:endParaRPr i="0" sz="950" u="none" cap="none" strike="noStrike">
              <a:solidFill>
                <a:schemeClr val="dk1"/>
              </a:solidFill>
              <a:latin typeface="Roboto"/>
              <a:ea typeface="Roboto"/>
              <a:cs typeface="Roboto"/>
              <a:sym typeface="Roboto"/>
            </a:endParaRPr>
          </a:p>
        </p:txBody>
      </p:sp>
      <p:graphicFrame>
        <p:nvGraphicFramePr>
          <p:cNvPr id="77" name="Google Shape;77;p4"/>
          <p:cNvGraphicFramePr/>
          <p:nvPr/>
        </p:nvGraphicFramePr>
        <p:xfrm>
          <a:off x="5468122" y="1759785"/>
          <a:ext cx="3000000" cy="3000000"/>
        </p:xfrm>
        <a:graphic>
          <a:graphicData uri="http://schemas.openxmlformats.org/drawingml/2006/table">
            <a:tbl>
              <a:tblPr>
                <a:noFill/>
                <a:tableStyleId>{098A27E6-43D6-4C41-B81A-627181AE2184}</a:tableStyleId>
              </a:tblPr>
              <a:tblGrid>
                <a:gridCol w="1188725"/>
                <a:gridCol w="731525"/>
                <a:gridCol w="777250"/>
                <a:gridCol w="594350"/>
              </a:tblGrid>
              <a:tr h="352700">
                <a:tc>
                  <a:txBody>
                    <a:bodyPr/>
                    <a:lstStyle/>
                    <a:p>
                      <a:pPr indent="0" lvl="0" marL="0" marR="0" rtl="0" algn="l">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Metric</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Target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Achieved</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Status</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r>
              <a:tr h="352700">
                <a:tc>
                  <a:txBody>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Return Forecast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12–14%</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13.37%</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900"/>
                        <a:buFont typeface="Calibri"/>
                        <a:buNone/>
                      </a:pPr>
                      <a:r>
                        <a:rPr lang="en-US" sz="950" u="none" cap="none" strike="noStrike">
                          <a:solidFill>
                            <a:srgbClr val="2E8B57"/>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352700">
                <a:tc>
                  <a:txBody>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Alpha</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6–7%</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6.54%</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900"/>
                        <a:buFont typeface="Calibri"/>
                        <a:buNone/>
                      </a:pPr>
                      <a:r>
                        <a:rPr lang="en-US" sz="950" u="none" cap="none" strike="noStrike">
                          <a:solidFill>
                            <a:srgbClr val="2E8B57"/>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352700">
                <a:tc>
                  <a:txBody>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Volatility</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&lt;14%</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13.30%</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900"/>
                        <a:buFont typeface="Calibri"/>
                        <a:buNone/>
                      </a:pPr>
                      <a:r>
                        <a:rPr lang="en-US" sz="950" u="none" cap="none" strike="noStrike">
                          <a:solidFill>
                            <a:srgbClr val="2E8B57"/>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352700">
                <a:tc>
                  <a:txBody>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Drawdown</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&gt;-15%</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-14.31%</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900"/>
                        <a:buFont typeface="Calibri"/>
                        <a:buNone/>
                      </a:pPr>
                      <a:r>
                        <a:rPr lang="en-US" sz="950" u="none" cap="none" strike="noStrike">
                          <a:solidFill>
                            <a:srgbClr val="2E8B57"/>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352700">
                <a:tc>
                  <a:txBody>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Beta</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0.85–0.95</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0.830</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C6600"/>
                        </a:buClr>
                        <a:buSzPts val="900"/>
                        <a:buFont typeface="Calibri"/>
                        <a:buNone/>
                      </a:pPr>
                      <a:r>
                        <a:rPr lang="en-US" sz="950" u="none" cap="none" strike="noStrike">
                          <a:solidFill>
                            <a:srgbClr val="CC6600"/>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352700">
                <a:tc>
                  <a:txBody>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Sharpe Ratio</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&gt;0.65</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00"/>
                        <a:buFont typeface="Calibri"/>
                        <a:buNone/>
                      </a:pPr>
                      <a:r>
                        <a:rPr lang="en-US" sz="950" u="none" cap="none" strike="noStrike">
                          <a:solidFill>
                            <a:srgbClr val="4A5568"/>
                          </a:solidFill>
                          <a:latin typeface="Roboto"/>
                          <a:ea typeface="Roboto"/>
                          <a:cs typeface="Roboto"/>
                          <a:sym typeface="Roboto"/>
                        </a:rPr>
                        <a:t>0.516</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CC6600"/>
                        </a:buClr>
                        <a:buSzPts val="900"/>
                        <a:buFont typeface="Calibri"/>
                        <a:buNone/>
                      </a:pPr>
                      <a:r>
                        <a:rPr lang="en-US" sz="950" u="none" cap="none" strike="noStrike">
                          <a:solidFill>
                            <a:srgbClr val="CC6600"/>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bl>
          </a:graphicData>
        </a:graphic>
      </p:graphicFrame>
      <p:sp>
        <p:nvSpPr>
          <p:cNvPr id="78" name="Google Shape;78;p4"/>
          <p:cNvSpPr/>
          <p:nvPr/>
        </p:nvSpPr>
        <p:spPr>
          <a:xfrm>
            <a:off x="347472" y="4315968"/>
            <a:ext cx="8449056" cy="566928"/>
          </a:xfrm>
          <a:prstGeom prst="roundRect">
            <a:avLst>
              <a:gd fmla="val 9677" name="adj"/>
            </a:avLst>
          </a:prstGeom>
          <a:solidFill>
            <a:srgbClr val="F0F4F9"/>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502920" y="4370832"/>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KEY MESSAGE  </a:t>
            </a:r>
            <a:r>
              <a:rPr i="0" lang="en-US" sz="950" u="none" cap="none" strike="noStrike">
                <a:solidFill>
                  <a:srgbClr val="4A5568"/>
                </a:solidFill>
                <a:latin typeface="Roboto"/>
                <a:ea typeface="Roboto"/>
                <a:cs typeface="Roboto"/>
                <a:sym typeface="Roboto"/>
              </a:rPr>
              <a:t>A successful portfolio is not one that maximizes every metric. It is one that remains inside its risk budgets while delivering attractive expected returns.</a:t>
            </a:r>
            <a:endParaRPr i="0" sz="950" u="none" cap="none" strike="noStrike">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5"/>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365760" y="0"/>
            <a:ext cx="74980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300" u="none" cap="none" strike="noStrike">
                <a:solidFill>
                  <a:srgbClr val="FFFFFF"/>
                </a:solidFill>
                <a:latin typeface="Tahoma"/>
                <a:ea typeface="Tahoma"/>
                <a:cs typeface="Tahoma"/>
                <a:sym typeface="Tahoma"/>
              </a:rPr>
              <a:t>TRANSLATING SECURITY RESEARCH INTO PORTFOLIO CONSTRUCTION</a:t>
            </a:r>
            <a:endParaRPr i="0" sz="1300" u="none" cap="none" strike="noStrike">
              <a:solidFill>
                <a:schemeClr val="dk1"/>
              </a:solidFill>
              <a:latin typeface="Tahoma"/>
              <a:ea typeface="Tahoma"/>
              <a:cs typeface="Tahoma"/>
              <a:sym typeface="Tahoma"/>
            </a:endParaRPr>
          </a:p>
        </p:txBody>
      </p:sp>
      <p:sp>
        <p:nvSpPr>
          <p:cNvPr id="87" name="Google Shape;87;p5"/>
          <p:cNvSpPr/>
          <p:nvPr/>
        </p:nvSpPr>
        <p:spPr>
          <a:xfrm>
            <a:off x="7772400" y="0"/>
            <a:ext cx="109728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03</a:t>
            </a:r>
            <a:endParaRPr b="0" i="0" sz="900" u="none" cap="none" strike="noStrike">
              <a:solidFill>
                <a:schemeClr val="dk1"/>
              </a:solidFill>
              <a:latin typeface="Calibri"/>
              <a:ea typeface="Calibri"/>
              <a:cs typeface="Calibri"/>
              <a:sym typeface="Calibri"/>
            </a:endParaRPr>
          </a:p>
        </p:txBody>
      </p:sp>
      <p:sp>
        <p:nvSpPr>
          <p:cNvPr id="88" name="Google Shape;88;p5"/>
          <p:cNvSpPr/>
          <p:nvPr/>
        </p:nvSpPr>
        <p:spPr>
          <a:xfrm>
            <a:off x="365760" y="804672"/>
            <a:ext cx="841248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548640" y="822960"/>
            <a:ext cx="80467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Investment ideas are inputs. Portfolio construction creates the final investment product.</a:t>
            </a:r>
            <a:endParaRPr i="0" sz="950" u="none" cap="none" strike="noStrike">
              <a:solidFill>
                <a:schemeClr val="dk1"/>
              </a:solidFill>
              <a:latin typeface="Roboto"/>
              <a:ea typeface="Roboto"/>
              <a:cs typeface="Roboto"/>
              <a:sym typeface="Roboto"/>
            </a:endParaRPr>
          </a:p>
        </p:txBody>
      </p:sp>
      <p:sp>
        <p:nvSpPr>
          <p:cNvPr id="90" name="Google Shape;90;p5"/>
          <p:cNvSpPr/>
          <p:nvPr/>
        </p:nvSpPr>
        <p:spPr>
          <a:xfrm>
            <a:off x="457200" y="1417320"/>
            <a:ext cx="2651760" cy="2651760"/>
          </a:xfrm>
          <a:prstGeom prst="ellipse">
            <a:avLst/>
          </a:prstGeom>
          <a:solidFill>
            <a:srgbClr val="1B3A6B">
              <a:alpha val="85098"/>
            </a:srgbClr>
          </a:solidFill>
          <a:ln cap="flat" cmpd="sng" w="254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91" name="Google Shape;91;p5"/>
          <p:cNvSpPr/>
          <p:nvPr/>
        </p:nvSpPr>
        <p:spPr>
          <a:xfrm>
            <a:off x="1965960" y="1417320"/>
            <a:ext cx="2651760" cy="2651760"/>
          </a:xfrm>
          <a:prstGeom prst="ellipse">
            <a:avLst/>
          </a:prstGeom>
          <a:solidFill>
            <a:srgbClr val="1A6B42">
              <a:alpha val="80000"/>
            </a:srgbClr>
          </a:solidFill>
          <a:ln cap="flat" cmpd="sng" w="254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92" name="Google Shape;92;p5"/>
          <p:cNvSpPr/>
          <p:nvPr/>
        </p:nvSpPr>
        <p:spPr>
          <a:xfrm>
            <a:off x="384043" y="1966023"/>
            <a:ext cx="16917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External Research</a:t>
            </a:r>
            <a:endParaRPr i="0" sz="950" u="none" cap="none" strike="noStrike">
              <a:solidFill>
                <a:schemeClr val="dk1"/>
              </a:solidFill>
              <a:latin typeface="Roboto"/>
              <a:ea typeface="Roboto"/>
              <a:cs typeface="Roboto"/>
              <a:sym typeface="Roboto"/>
            </a:endParaRPr>
          </a:p>
        </p:txBody>
      </p:sp>
      <p:sp>
        <p:nvSpPr>
          <p:cNvPr id="93" name="Google Shape;93;p5"/>
          <p:cNvSpPr/>
          <p:nvPr/>
        </p:nvSpPr>
        <p:spPr>
          <a:xfrm>
            <a:off x="201168" y="2221992"/>
            <a:ext cx="16916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0C4D8"/>
              </a:buClr>
              <a:buSzPts val="900"/>
              <a:buFont typeface="Calibri"/>
              <a:buNone/>
            </a:pPr>
            <a:r>
              <a:rPr i="0" lang="en-US" sz="950" u="none" cap="none" strike="noStrike">
                <a:solidFill>
                  <a:srgbClr val="B0C4D8"/>
                </a:solidFill>
                <a:latin typeface="Roboto"/>
                <a:ea typeface="Roboto"/>
                <a:cs typeface="Roboto"/>
                <a:sym typeface="Roboto"/>
              </a:rPr>
              <a:t>Universe</a:t>
            </a:r>
            <a:endParaRPr i="0" sz="950" u="none" cap="none" strike="noStrike">
              <a:solidFill>
                <a:schemeClr val="dk1"/>
              </a:solidFill>
              <a:latin typeface="Roboto"/>
              <a:ea typeface="Roboto"/>
              <a:cs typeface="Roboto"/>
              <a:sym typeface="Roboto"/>
            </a:endParaRPr>
          </a:p>
        </p:txBody>
      </p:sp>
      <p:sp>
        <p:nvSpPr>
          <p:cNvPr id="94" name="Google Shape;94;p5"/>
          <p:cNvSpPr/>
          <p:nvPr/>
        </p:nvSpPr>
        <p:spPr>
          <a:xfrm>
            <a:off x="201168" y="2450592"/>
            <a:ext cx="16916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84B"/>
              </a:buClr>
              <a:buSzPts val="1100"/>
              <a:buFont typeface="Calibri"/>
              <a:buNone/>
            </a:pPr>
            <a:r>
              <a:rPr b="1" i="0" lang="en-US" sz="950" u="none" cap="none" strike="noStrike">
                <a:solidFill>
                  <a:srgbClr val="C8A84B"/>
                </a:solidFill>
                <a:latin typeface="Roboto"/>
                <a:ea typeface="Roboto"/>
                <a:cs typeface="Roboto"/>
                <a:sym typeface="Roboto"/>
              </a:rPr>
              <a:t>16 Securities</a:t>
            </a:r>
            <a:endParaRPr i="0" sz="950" u="none" cap="none" strike="noStrike">
              <a:solidFill>
                <a:schemeClr val="dk1"/>
              </a:solidFill>
              <a:latin typeface="Roboto"/>
              <a:ea typeface="Roboto"/>
              <a:cs typeface="Roboto"/>
              <a:sym typeface="Roboto"/>
            </a:endParaRPr>
          </a:p>
        </p:txBody>
      </p:sp>
      <p:sp>
        <p:nvSpPr>
          <p:cNvPr id="95" name="Google Shape;95;p5"/>
          <p:cNvSpPr/>
          <p:nvPr/>
        </p:nvSpPr>
        <p:spPr>
          <a:xfrm>
            <a:off x="1892798" y="1984268"/>
            <a:ext cx="13716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6 Common</a:t>
            </a:r>
            <a:endParaRPr i="0" sz="950" u="none" cap="none" strike="noStrike">
              <a:solidFill>
                <a:schemeClr val="dk1"/>
              </a:solidFill>
              <a:latin typeface="Roboto"/>
              <a:ea typeface="Roboto"/>
              <a:cs typeface="Roboto"/>
              <a:sym typeface="Roboto"/>
            </a:endParaRPr>
          </a:p>
          <a:p>
            <a:pPr indent="0" lvl="0" marL="0" marR="0" rtl="0" algn="ctr">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Holdings</a:t>
            </a:r>
            <a:endParaRPr i="0" sz="950" u="none" cap="none" strike="noStrike">
              <a:solidFill>
                <a:schemeClr val="dk1"/>
              </a:solidFill>
              <a:latin typeface="Roboto"/>
              <a:ea typeface="Roboto"/>
              <a:cs typeface="Roboto"/>
              <a:sym typeface="Roboto"/>
            </a:endParaRPr>
          </a:p>
        </p:txBody>
      </p:sp>
      <p:sp>
        <p:nvSpPr>
          <p:cNvPr id="96" name="Google Shape;96;p5"/>
          <p:cNvSpPr/>
          <p:nvPr/>
        </p:nvSpPr>
        <p:spPr>
          <a:xfrm>
            <a:off x="1737360" y="2560333"/>
            <a:ext cx="1371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84B"/>
              </a:buClr>
              <a:buSzPts val="900"/>
              <a:buFont typeface="Calibri"/>
              <a:buNone/>
            </a:pPr>
            <a:r>
              <a:rPr b="1" i="0" lang="en-US" sz="950" u="none" cap="none" strike="noStrike">
                <a:solidFill>
                  <a:srgbClr val="C8A84B"/>
                </a:solidFill>
                <a:latin typeface="Roboto"/>
                <a:ea typeface="Roboto"/>
                <a:cs typeface="Roboto"/>
                <a:sym typeface="Roboto"/>
              </a:rPr>
              <a:t>37.5%</a:t>
            </a:r>
            <a:endParaRPr i="0" sz="950" u="none" cap="none" strike="noStrike">
              <a:solidFill>
                <a:schemeClr val="dk1"/>
              </a:solidFill>
              <a:latin typeface="Roboto"/>
              <a:ea typeface="Roboto"/>
              <a:cs typeface="Roboto"/>
              <a:sym typeface="Roboto"/>
            </a:endParaRPr>
          </a:p>
          <a:p>
            <a:pPr indent="0" lvl="0" marL="0" marR="0" rtl="0" algn="ctr">
              <a:spcBef>
                <a:spcPts val="0"/>
              </a:spcBef>
              <a:spcAft>
                <a:spcPts val="0"/>
              </a:spcAft>
              <a:buClr>
                <a:srgbClr val="C8A84B"/>
              </a:buClr>
              <a:buSzPts val="900"/>
              <a:buFont typeface="Calibri"/>
              <a:buNone/>
            </a:pPr>
            <a:r>
              <a:rPr b="1" i="0" lang="en-US" sz="950" u="none" cap="none" strike="noStrike">
                <a:solidFill>
                  <a:srgbClr val="C8A84B"/>
                </a:solidFill>
                <a:latin typeface="Roboto"/>
                <a:ea typeface="Roboto"/>
                <a:cs typeface="Roboto"/>
                <a:sym typeface="Roboto"/>
              </a:rPr>
              <a:t>Alignment</a:t>
            </a:r>
            <a:endParaRPr i="0" sz="950" u="none" cap="none" strike="noStrike">
              <a:solidFill>
                <a:schemeClr val="dk1"/>
              </a:solidFill>
              <a:latin typeface="Roboto"/>
              <a:ea typeface="Roboto"/>
              <a:cs typeface="Roboto"/>
              <a:sym typeface="Roboto"/>
            </a:endParaRPr>
          </a:p>
        </p:txBody>
      </p:sp>
      <p:sp>
        <p:nvSpPr>
          <p:cNvPr id="97" name="Google Shape;97;p5"/>
          <p:cNvSpPr/>
          <p:nvPr/>
        </p:nvSpPr>
        <p:spPr>
          <a:xfrm>
            <a:off x="3063240" y="1965960"/>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Optimizer</a:t>
            </a:r>
            <a:endParaRPr i="0" sz="950" u="none" cap="none" strike="noStrike">
              <a:solidFill>
                <a:schemeClr val="dk1"/>
              </a:solidFill>
              <a:latin typeface="Roboto"/>
              <a:ea typeface="Roboto"/>
              <a:cs typeface="Roboto"/>
              <a:sym typeface="Roboto"/>
            </a:endParaRPr>
          </a:p>
        </p:txBody>
      </p:sp>
      <p:sp>
        <p:nvSpPr>
          <p:cNvPr id="98" name="Google Shape;98;p5"/>
          <p:cNvSpPr/>
          <p:nvPr/>
        </p:nvSpPr>
        <p:spPr>
          <a:xfrm>
            <a:off x="3063240" y="2221992"/>
            <a:ext cx="16459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C49A"/>
              </a:buClr>
              <a:buSzPts val="900"/>
              <a:buFont typeface="Calibri"/>
              <a:buNone/>
            </a:pPr>
            <a:r>
              <a:rPr i="0" lang="en-US" sz="950" u="none" cap="none" strike="noStrike">
                <a:solidFill>
                  <a:srgbClr val="8FC49A"/>
                </a:solidFill>
                <a:latin typeface="Roboto"/>
                <a:ea typeface="Roboto"/>
                <a:cs typeface="Roboto"/>
                <a:sym typeface="Roboto"/>
              </a:rPr>
              <a:t>Portfolio</a:t>
            </a:r>
            <a:endParaRPr i="0" sz="950" u="none" cap="none" strike="noStrike">
              <a:solidFill>
                <a:schemeClr val="dk1"/>
              </a:solidFill>
              <a:latin typeface="Roboto"/>
              <a:ea typeface="Roboto"/>
              <a:cs typeface="Roboto"/>
              <a:sym typeface="Roboto"/>
            </a:endParaRPr>
          </a:p>
        </p:txBody>
      </p:sp>
      <p:sp>
        <p:nvSpPr>
          <p:cNvPr id="99" name="Google Shape;99;p5"/>
          <p:cNvSpPr/>
          <p:nvPr/>
        </p:nvSpPr>
        <p:spPr>
          <a:xfrm>
            <a:off x="3063240" y="2450592"/>
            <a:ext cx="16459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84B"/>
              </a:buClr>
              <a:buSzPts val="1100"/>
              <a:buFont typeface="Calibri"/>
              <a:buNone/>
            </a:pPr>
            <a:r>
              <a:rPr b="1" i="0" lang="en-US" sz="950" u="none" cap="none" strike="noStrike">
                <a:solidFill>
                  <a:srgbClr val="C8A84B"/>
                </a:solidFill>
                <a:latin typeface="Roboto"/>
                <a:ea typeface="Roboto"/>
                <a:cs typeface="Roboto"/>
                <a:sym typeface="Roboto"/>
              </a:rPr>
              <a:t>16 Securities</a:t>
            </a:r>
            <a:endParaRPr i="0" sz="950" u="none" cap="none" strike="noStrike">
              <a:solidFill>
                <a:schemeClr val="dk1"/>
              </a:solidFill>
              <a:latin typeface="Roboto"/>
              <a:ea typeface="Roboto"/>
              <a:cs typeface="Roboto"/>
              <a:sym typeface="Roboto"/>
            </a:endParaRPr>
          </a:p>
        </p:txBody>
      </p:sp>
      <p:sp>
        <p:nvSpPr>
          <p:cNvPr id="100" name="Google Shape;100;p5"/>
          <p:cNvSpPr/>
          <p:nvPr/>
        </p:nvSpPr>
        <p:spPr>
          <a:xfrm>
            <a:off x="347472" y="3639312"/>
            <a:ext cx="1024128" cy="475488"/>
          </a:xfrm>
          <a:prstGeom prst="roundRect">
            <a:avLst>
              <a:gd fmla="val 11538" name="adj"/>
            </a:avLst>
          </a:prstGeom>
          <a:solidFill>
            <a:srgbClr val="1B3A6B"/>
          </a:solidFill>
          <a:ln cap="flat" cmpd="sng" w="12700">
            <a:solidFill>
              <a:srgbClr val="2A5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384048" y="3639312"/>
            <a:ext cx="95097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i="0" lang="en-US" sz="750" u="none" cap="none" strike="noStrike">
                <a:solidFill>
                  <a:srgbClr val="FFFFFF"/>
                </a:solidFill>
                <a:latin typeface="Roboto"/>
                <a:ea typeface="Roboto"/>
                <a:cs typeface="Roboto"/>
                <a:sym typeface="Roboto"/>
              </a:rPr>
              <a:t>Industry Research</a:t>
            </a:r>
            <a:endParaRPr i="0" sz="750" u="none" cap="none" strike="noStrike">
              <a:solidFill>
                <a:schemeClr val="dk1"/>
              </a:solidFill>
              <a:latin typeface="Roboto"/>
              <a:ea typeface="Roboto"/>
              <a:cs typeface="Roboto"/>
              <a:sym typeface="Roboto"/>
            </a:endParaRPr>
          </a:p>
        </p:txBody>
      </p:sp>
      <p:cxnSp>
        <p:nvCxnSpPr>
          <p:cNvPr id="102" name="Google Shape;102;p5"/>
          <p:cNvCxnSpPr/>
          <p:nvPr/>
        </p:nvCxnSpPr>
        <p:spPr>
          <a:xfrm>
            <a:off x="1380744" y="3877056"/>
            <a:ext cx="128016" cy="0"/>
          </a:xfrm>
          <a:prstGeom prst="straightConnector1">
            <a:avLst/>
          </a:prstGeom>
          <a:noFill/>
          <a:ln cap="flat" cmpd="sng" w="19050">
            <a:solidFill>
              <a:srgbClr val="708090"/>
            </a:solidFill>
            <a:prstDash val="solid"/>
            <a:round/>
            <a:headEnd len="sm" w="sm" type="none"/>
            <a:tailEnd len="sm" w="sm" type="none"/>
          </a:ln>
        </p:spPr>
      </p:cxnSp>
      <p:sp>
        <p:nvSpPr>
          <p:cNvPr id="103" name="Google Shape;103;p5"/>
          <p:cNvSpPr/>
          <p:nvPr/>
        </p:nvSpPr>
        <p:spPr>
          <a:xfrm>
            <a:off x="1517904" y="3639312"/>
            <a:ext cx="1024128" cy="475488"/>
          </a:xfrm>
          <a:prstGeom prst="roundRect">
            <a:avLst>
              <a:gd fmla="val 11538" name="adj"/>
            </a:avLst>
          </a:prstGeom>
          <a:solidFill>
            <a:srgbClr val="1B3A6B"/>
          </a:solidFill>
          <a:ln cap="flat" cmpd="sng" w="12700">
            <a:solidFill>
              <a:srgbClr val="2A5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1554480" y="3639312"/>
            <a:ext cx="95097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i="0" lang="en-US" sz="750" u="none" cap="none" strike="noStrike">
                <a:solidFill>
                  <a:srgbClr val="FFFFFF"/>
                </a:solidFill>
                <a:latin typeface="Roboto"/>
                <a:ea typeface="Roboto"/>
                <a:cs typeface="Roboto"/>
                <a:sym typeface="Roboto"/>
              </a:rPr>
              <a:t>Fundamental Screening</a:t>
            </a:r>
            <a:endParaRPr i="0" sz="750" u="none" cap="none" strike="noStrike">
              <a:solidFill>
                <a:schemeClr val="dk1"/>
              </a:solidFill>
              <a:latin typeface="Roboto"/>
              <a:ea typeface="Roboto"/>
              <a:cs typeface="Roboto"/>
              <a:sym typeface="Roboto"/>
            </a:endParaRPr>
          </a:p>
        </p:txBody>
      </p:sp>
      <p:cxnSp>
        <p:nvCxnSpPr>
          <p:cNvPr id="105" name="Google Shape;105;p5"/>
          <p:cNvCxnSpPr/>
          <p:nvPr/>
        </p:nvCxnSpPr>
        <p:spPr>
          <a:xfrm>
            <a:off x="2551176" y="3877056"/>
            <a:ext cx="128016" cy="0"/>
          </a:xfrm>
          <a:prstGeom prst="straightConnector1">
            <a:avLst/>
          </a:prstGeom>
          <a:noFill/>
          <a:ln cap="flat" cmpd="sng" w="19050">
            <a:solidFill>
              <a:srgbClr val="708090"/>
            </a:solidFill>
            <a:prstDash val="solid"/>
            <a:round/>
            <a:headEnd len="sm" w="sm" type="none"/>
            <a:tailEnd len="sm" w="sm" type="none"/>
          </a:ln>
        </p:spPr>
      </p:cxnSp>
      <p:sp>
        <p:nvSpPr>
          <p:cNvPr id="106" name="Google Shape;106;p5"/>
          <p:cNvSpPr/>
          <p:nvPr/>
        </p:nvSpPr>
        <p:spPr>
          <a:xfrm>
            <a:off x="2688336" y="3639312"/>
            <a:ext cx="1024128" cy="475488"/>
          </a:xfrm>
          <a:prstGeom prst="roundRect">
            <a:avLst>
              <a:gd fmla="val 11538" name="adj"/>
            </a:avLst>
          </a:prstGeom>
          <a:solidFill>
            <a:srgbClr val="1A4A30"/>
          </a:solidFill>
          <a:ln cap="flat" cmpd="sng" w="12700">
            <a:solidFill>
              <a:srgbClr val="2A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2724912" y="3639312"/>
            <a:ext cx="95097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i="0" lang="en-US" sz="750" u="none" cap="none" strike="noStrike">
                <a:solidFill>
                  <a:srgbClr val="FFFFFF"/>
                </a:solidFill>
                <a:latin typeface="Roboto"/>
                <a:ea typeface="Roboto"/>
                <a:cs typeface="Roboto"/>
                <a:sym typeface="Roboto"/>
              </a:rPr>
              <a:t>Optimization Engine</a:t>
            </a:r>
            <a:endParaRPr i="0" sz="750" u="none" cap="none" strike="noStrike">
              <a:solidFill>
                <a:schemeClr val="dk1"/>
              </a:solidFill>
              <a:latin typeface="Roboto"/>
              <a:ea typeface="Roboto"/>
              <a:cs typeface="Roboto"/>
              <a:sym typeface="Roboto"/>
            </a:endParaRPr>
          </a:p>
        </p:txBody>
      </p:sp>
      <p:cxnSp>
        <p:nvCxnSpPr>
          <p:cNvPr id="108" name="Google Shape;108;p5"/>
          <p:cNvCxnSpPr/>
          <p:nvPr/>
        </p:nvCxnSpPr>
        <p:spPr>
          <a:xfrm>
            <a:off x="3721608" y="3877056"/>
            <a:ext cx="128016" cy="0"/>
          </a:xfrm>
          <a:prstGeom prst="straightConnector1">
            <a:avLst/>
          </a:prstGeom>
          <a:noFill/>
          <a:ln cap="flat" cmpd="sng" w="19050">
            <a:solidFill>
              <a:srgbClr val="708090"/>
            </a:solidFill>
            <a:prstDash val="solid"/>
            <a:round/>
            <a:headEnd len="sm" w="sm" type="none"/>
            <a:tailEnd len="sm" w="sm" type="none"/>
          </a:ln>
        </p:spPr>
      </p:cxnSp>
      <p:sp>
        <p:nvSpPr>
          <p:cNvPr id="109" name="Google Shape;109;p5"/>
          <p:cNvSpPr/>
          <p:nvPr/>
        </p:nvSpPr>
        <p:spPr>
          <a:xfrm>
            <a:off x="3858768" y="3639312"/>
            <a:ext cx="1024128" cy="475488"/>
          </a:xfrm>
          <a:prstGeom prst="roundRect">
            <a:avLst>
              <a:gd fmla="val 11538" name="adj"/>
            </a:avLst>
          </a:prstGeom>
          <a:solidFill>
            <a:srgbClr val="1A4A30"/>
          </a:solidFill>
          <a:ln cap="flat" cmpd="sng" w="12700">
            <a:solidFill>
              <a:srgbClr val="2A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3895344" y="3639312"/>
            <a:ext cx="950976"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i="0" lang="en-US" sz="750" u="none" cap="none" strike="noStrike">
                <a:solidFill>
                  <a:srgbClr val="FFFFFF"/>
                </a:solidFill>
                <a:latin typeface="Roboto"/>
                <a:ea typeface="Roboto"/>
                <a:cs typeface="Roboto"/>
                <a:sym typeface="Roboto"/>
              </a:rPr>
              <a:t>Portfolio Allocation</a:t>
            </a:r>
            <a:endParaRPr i="0" sz="750" u="none" cap="none" strike="noStrike">
              <a:solidFill>
                <a:schemeClr val="dk1"/>
              </a:solidFill>
              <a:latin typeface="Roboto"/>
              <a:ea typeface="Roboto"/>
              <a:cs typeface="Roboto"/>
              <a:sym typeface="Roboto"/>
            </a:endParaRPr>
          </a:p>
        </p:txBody>
      </p:sp>
      <p:sp>
        <p:nvSpPr>
          <p:cNvPr id="111" name="Google Shape;111;p5"/>
          <p:cNvSpPr/>
          <p:nvPr/>
        </p:nvSpPr>
        <p:spPr>
          <a:xfrm>
            <a:off x="5074920" y="1417320"/>
            <a:ext cx="3703320" cy="640080"/>
          </a:xfrm>
          <a:prstGeom prst="roundRect">
            <a:avLst>
              <a:gd fmla="val 8571"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12" name="Google Shape;112;p5"/>
          <p:cNvSpPr/>
          <p:nvPr/>
        </p:nvSpPr>
        <p:spPr>
          <a:xfrm>
            <a:off x="5074920" y="1417320"/>
            <a:ext cx="109728" cy="640080"/>
          </a:xfrm>
          <a:prstGeom prst="roundRect">
            <a:avLst>
              <a:gd fmla="val 25000" name="adj"/>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5257800" y="1490472"/>
            <a:ext cx="33834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1000"/>
              <a:buFont typeface="Calibri"/>
              <a:buNone/>
            </a:pPr>
            <a:r>
              <a:rPr b="1" i="0" lang="en-US" sz="950" u="none" cap="none" strike="noStrike">
                <a:solidFill>
                  <a:srgbClr val="0A192F"/>
                </a:solidFill>
                <a:latin typeface="Roboto"/>
                <a:ea typeface="Roboto"/>
                <a:cs typeface="Roboto"/>
                <a:sym typeface="Roboto"/>
              </a:rPr>
              <a:t>Advisory Universe</a:t>
            </a:r>
            <a:endParaRPr i="0" sz="950" u="none" cap="none" strike="noStrike">
              <a:solidFill>
                <a:schemeClr val="dk1"/>
              </a:solidFill>
              <a:latin typeface="Roboto"/>
              <a:ea typeface="Roboto"/>
              <a:cs typeface="Roboto"/>
              <a:sym typeface="Roboto"/>
            </a:endParaRPr>
          </a:p>
        </p:txBody>
      </p:sp>
      <p:sp>
        <p:nvSpPr>
          <p:cNvPr id="114" name="Google Shape;114;p5"/>
          <p:cNvSpPr/>
          <p:nvPr/>
        </p:nvSpPr>
        <p:spPr>
          <a:xfrm>
            <a:off x="5257800" y="1746504"/>
            <a:ext cx="33832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16 securities from external research</a:t>
            </a:r>
            <a:endParaRPr i="0" sz="950" u="none" cap="none" strike="noStrike">
              <a:solidFill>
                <a:schemeClr val="dk1"/>
              </a:solidFill>
              <a:latin typeface="Roboto"/>
              <a:ea typeface="Roboto"/>
              <a:cs typeface="Roboto"/>
              <a:sym typeface="Roboto"/>
            </a:endParaRPr>
          </a:p>
        </p:txBody>
      </p:sp>
      <p:sp>
        <p:nvSpPr>
          <p:cNvPr id="115" name="Google Shape;115;p5"/>
          <p:cNvSpPr/>
          <p:nvPr/>
        </p:nvSpPr>
        <p:spPr>
          <a:xfrm>
            <a:off x="5074920" y="2167128"/>
            <a:ext cx="3703320" cy="640080"/>
          </a:xfrm>
          <a:prstGeom prst="roundRect">
            <a:avLst>
              <a:gd fmla="val 8571"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16" name="Google Shape;116;p5"/>
          <p:cNvSpPr/>
          <p:nvPr/>
        </p:nvSpPr>
        <p:spPr>
          <a:xfrm>
            <a:off x="5074920" y="2167128"/>
            <a:ext cx="109728" cy="640080"/>
          </a:xfrm>
          <a:prstGeom prst="roundRect">
            <a:avLst>
              <a:gd fmla="val 25000" name="adj"/>
            </a:avLst>
          </a:prstGeom>
          <a:solidFill>
            <a:srgbClr val="1A4A30"/>
          </a:solidFill>
          <a:ln cap="flat" cmpd="sng" w="12700">
            <a:solidFill>
              <a:srgbClr val="1A4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5257800" y="2240280"/>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1000"/>
              <a:buFont typeface="Calibri"/>
              <a:buNone/>
            </a:pPr>
            <a:r>
              <a:rPr b="1" i="0" lang="en-US" sz="950" u="none" cap="none" strike="noStrike">
                <a:solidFill>
                  <a:srgbClr val="0A192F"/>
                </a:solidFill>
                <a:latin typeface="Roboto"/>
                <a:ea typeface="Roboto"/>
                <a:cs typeface="Roboto"/>
                <a:sym typeface="Roboto"/>
              </a:rPr>
              <a:t>Optimizer Portfolio</a:t>
            </a:r>
            <a:endParaRPr i="0" sz="950" u="none" cap="none" strike="noStrike">
              <a:solidFill>
                <a:schemeClr val="dk1"/>
              </a:solidFill>
              <a:latin typeface="Roboto"/>
              <a:ea typeface="Roboto"/>
              <a:cs typeface="Roboto"/>
              <a:sym typeface="Roboto"/>
            </a:endParaRPr>
          </a:p>
        </p:txBody>
      </p:sp>
      <p:sp>
        <p:nvSpPr>
          <p:cNvPr id="118" name="Google Shape;118;p5"/>
          <p:cNvSpPr/>
          <p:nvPr/>
        </p:nvSpPr>
        <p:spPr>
          <a:xfrm>
            <a:off x="5257800" y="2496312"/>
            <a:ext cx="33832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16 securities via mathematical optimization</a:t>
            </a:r>
            <a:endParaRPr i="0" sz="950" u="none" cap="none" strike="noStrike">
              <a:solidFill>
                <a:schemeClr val="dk1"/>
              </a:solidFill>
              <a:latin typeface="Roboto"/>
              <a:ea typeface="Roboto"/>
              <a:cs typeface="Roboto"/>
              <a:sym typeface="Roboto"/>
            </a:endParaRPr>
          </a:p>
        </p:txBody>
      </p:sp>
      <p:sp>
        <p:nvSpPr>
          <p:cNvPr id="119" name="Google Shape;119;p5"/>
          <p:cNvSpPr/>
          <p:nvPr/>
        </p:nvSpPr>
        <p:spPr>
          <a:xfrm>
            <a:off x="5074920" y="2916936"/>
            <a:ext cx="3703320" cy="640080"/>
          </a:xfrm>
          <a:prstGeom prst="roundRect">
            <a:avLst>
              <a:gd fmla="val 8571"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20" name="Google Shape;120;p5"/>
          <p:cNvSpPr/>
          <p:nvPr/>
        </p:nvSpPr>
        <p:spPr>
          <a:xfrm>
            <a:off x="5074920" y="2916936"/>
            <a:ext cx="109728" cy="640080"/>
          </a:xfrm>
          <a:prstGeom prst="roundRect">
            <a:avLst>
              <a:gd fmla="val 25000" name="adj"/>
            </a:avLst>
          </a:prstGeom>
          <a:solidFill>
            <a:srgbClr val="5A3A00"/>
          </a:solidFill>
          <a:ln cap="flat" cmpd="sng" w="12700">
            <a:solidFill>
              <a:srgbClr val="5A3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5257800" y="2990088"/>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1000"/>
              <a:buFont typeface="Calibri"/>
              <a:buNone/>
            </a:pPr>
            <a:r>
              <a:rPr b="1" i="0" lang="en-US" sz="950" u="none" cap="none" strike="noStrike">
                <a:solidFill>
                  <a:srgbClr val="0A192F"/>
                </a:solidFill>
                <a:latin typeface="Roboto"/>
                <a:ea typeface="Roboto"/>
                <a:cs typeface="Roboto"/>
                <a:sym typeface="Roboto"/>
              </a:rPr>
              <a:t>Common Holdings</a:t>
            </a:r>
            <a:endParaRPr i="0" sz="950" u="none" cap="none" strike="noStrike">
              <a:solidFill>
                <a:schemeClr val="dk1"/>
              </a:solidFill>
              <a:latin typeface="Roboto"/>
              <a:ea typeface="Roboto"/>
              <a:cs typeface="Roboto"/>
              <a:sym typeface="Roboto"/>
            </a:endParaRPr>
          </a:p>
        </p:txBody>
      </p:sp>
      <p:sp>
        <p:nvSpPr>
          <p:cNvPr id="122" name="Google Shape;122;p5"/>
          <p:cNvSpPr/>
          <p:nvPr/>
        </p:nvSpPr>
        <p:spPr>
          <a:xfrm>
            <a:off x="5257800" y="3246120"/>
            <a:ext cx="33832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6 securities — validated by both approaches</a:t>
            </a:r>
            <a:endParaRPr i="0" sz="950" u="none" cap="none" strike="noStrike">
              <a:solidFill>
                <a:schemeClr val="dk1"/>
              </a:solidFill>
              <a:latin typeface="Roboto"/>
              <a:ea typeface="Roboto"/>
              <a:cs typeface="Roboto"/>
              <a:sym typeface="Roboto"/>
            </a:endParaRPr>
          </a:p>
        </p:txBody>
      </p:sp>
      <p:sp>
        <p:nvSpPr>
          <p:cNvPr id="123" name="Google Shape;123;p5"/>
          <p:cNvSpPr/>
          <p:nvPr/>
        </p:nvSpPr>
        <p:spPr>
          <a:xfrm>
            <a:off x="5074920" y="3666744"/>
            <a:ext cx="3703320" cy="640080"/>
          </a:xfrm>
          <a:prstGeom prst="roundRect">
            <a:avLst>
              <a:gd fmla="val 8571"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24" name="Google Shape;124;p5"/>
          <p:cNvSpPr/>
          <p:nvPr/>
        </p:nvSpPr>
        <p:spPr>
          <a:xfrm>
            <a:off x="5074920" y="3666744"/>
            <a:ext cx="109728" cy="640080"/>
          </a:xfrm>
          <a:prstGeom prst="roundRect">
            <a:avLst>
              <a:gd fmla="val 25000" name="adj"/>
            </a:avLst>
          </a:prstGeom>
          <a:solidFill>
            <a:srgbClr val="4A1A3A"/>
          </a:solidFill>
          <a:ln cap="flat" cmpd="sng" w="12700">
            <a:solidFill>
              <a:srgbClr val="4A1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5257800" y="3739896"/>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1000"/>
              <a:buFont typeface="Calibri"/>
              <a:buNone/>
            </a:pPr>
            <a:r>
              <a:rPr b="1" i="0" lang="en-US" sz="950" u="none" cap="none" strike="noStrike">
                <a:solidFill>
                  <a:srgbClr val="0A192F"/>
                </a:solidFill>
                <a:latin typeface="Roboto"/>
                <a:ea typeface="Roboto"/>
                <a:cs typeface="Roboto"/>
                <a:sym typeface="Roboto"/>
              </a:rPr>
              <a:t>Independent Additions</a:t>
            </a:r>
            <a:endParaRPr i="0" sz="950" u="none" cap="none" strike="noStrike">
              <a:solidFill>
                <a:schemeClr val="dk1"/>
              </a:solidFill>
              <a:latin typeface="Roboto"/>
              <a:ea typeface="Roboto"/>
              <a:cs typeface="Roboto"/>
              <a:sym typeface="Roboto"/>
            </a:endParaRPr>
          </a:p>
        </p:txBody>
      </p:sp>
      <p:sp>
        <p:nvSpPr>
          <p:cNvPr id="126" name="Google Shape;126;p5"/>
          <p:cNvSpPr/>
          <p:nvPr/>
        </p:nvSpPr>
        <p:spPr>
          <a:xfrm>
            <a:off x="5257800" y="3995928"/>
            <a:ext cx="33832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10 optimizer-only positions for diversification</a:t>
            </a:r>
            <a:endParaRPr i="0" sz="950" u="none" cap="none" strike="noStrike">
              <a:solidFill>
                <a:schemeClr val="dk1"/>
              </a:solidFill>
              <a:latin typeface="Roboto"/>
              <a:ea typeface="Roboto"/>
              <a:cs typeface="Roboto"/>
              <a:sym typeface="Roboto"/>
            </a:endParaRPr>
          </a:p>
        </p:txBody>
      </p:sp>
      <p:sp>
        <p:nvSpPr>
          <p:cNvPr id="127" name="Google Shape;127;p5"/>
          <p:cNvSpPr/>
          <p:nvPr/>
        </p:nvSpPr>
        <p:spPr>
          <a:xfrm>
            <a:off x="347475" y="4389124"/>
            <a:ext cx="8412600" cy="457200"/>
          </a:xfrm>
          <a:prstGeom prst="roundRect">
            <a:avLst>
              <a:gd fmla="val 10345" name="adj"/>
            </a:avLst>
          </a:prstGeom>
          <a:solidFill>
            <a:srgbClr val="F0F4F9"/>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548640" y="4352544"/>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50"/>
              <a:buFont typeface="Calibri"/>
              <a:buNone/>
            </a:pPr>
            <a:r>
              <a:rPr lang="en-US" sz="950" u="none" cap="none" strike="noStrike">
                <a:solidFill>
                  <a:srgbClr val="0A192F"/>
                </a:solidFill>
                <a:latin typeface="Roboto"/>
                <a:ea typeface="Roboto"/>
                <a:cs typeface="Roboto"/>
                <a:sym typeface="Roboto"/>
              </a:rPr>
              <a:t>Research generates ideas. Portfolio construction determines how those ideas become investable, risk-controlled allocations.</a:t>
            </a:r>
            <a:endParaRPr sz="950" u="none" cap="none" strike="noStrike">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6"/>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p:nvPr/>
        </p:nvSpPr>
        <p:spPr>
          <a:xfrm>
            <a:off x="365760" y="0"/>
            <a:ext cx="74980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ahoma"/>
                <a:ea typeface="Tahoma"/>
                <a:cs typeface="Tahoma"/>
                <a:sym typeface="Tahoma"/>
              </a:rPr>
              <a:t>PORTFOLIO CONSTRUCTION ARCHITECTURE</a:t>
            </a:r>
            <a:endParaRPr i="0" sz="1300" u="none" cap="none" strike="noStrike">
              <a:solidFill>
                <a:schemeClr val="dk1"/>
              </a:solidFill>
              <a:latin typeface="Tahoma"/>
              <a:ea typeface="Tahoma"/>
              <a:cs typeface="Tahoma"/>
              <a:sym typeface="Tahoma"/>
            </a:endParaRPr>
          </a:p>
        </p:txBody>
      </p:sp>
      <p:sp>
        <p:nvSpPr>
          <p:cNvPr id="136" name="Google Shape;136;p6"/>
          <p:cNvSpPr/>
          <p:nvPr/>
        </p:nvSpPr>
        <p:spPr>
          <a:xfrm>
            <a:off x="7772400" y="0"/>
            <a:ext cx="109728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04</a:t>
            </a:r>
            <a:endParaRPr b="0" i="0" sz="900" u="none" cap="none" strike="noStrike">
              <a:solidFill>
                <a:schemeClr val="dk1"/>
              </a:solidFill>
              <a:latin typeface="Calibri"/>
              <a:ea typeface="Calibri"/>
              <a:cs typeface="Calibri"/>
              <a:sym typeface="Calibri"/>
            </a:endParaRPr>
          </a:p>
        </p:txBody>
      </p:sp>
      <p:sp>
        <p:nvSpPr>
          <p:cNvPr id="137" name="Google Shape;137;p6"/>
          <p:cNvSpPr/>
          <p:nvPr/>
        </p:nvSpPr>
        <p:spPr>
          <a:xfrm>
            <a:off x="365760" y="804672"/>
            <a:ext cx="841248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548640" y="822960"/>
            <a:ext cx="80467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Every security serves a predefined portfolio role. The portfolio is diversified by function, not merely by security count.</a:t>
            </a:r>
            <a:endParaRPr i="0" sz="950" u="none" cap="none" strike="noStrike">
              <a:solidFill>
                <a:schemeClr val="dk1"/>
              </a:solidFill>
              <a:latin typeface="Roboto"/>
              <a:ea typeface="Roboto"/>
              <a:cs typeface="Roboto"/>
              <a:sym typeface="Roboto"/>
            </a:endParaRPr>
          </a:p>
        </p:txBody>
      </p:sp>
      <p:sp>
        <p:nvSpPr>
          <p:cNvPr id="139" name="Google Shape;139;p6"/>
          <p:cNvSpPr/>
          <p:nvPr/>
        </p:nvSpPr>
        <p:spPr>
          <a:xfrm>
            <a:off x="3200400" y="1417320"/>
            <a:ext cx="2743200" cy="658368"/>
          </a:xfrm>
          <a:prstGeom prst="rect">
            <a:avLst/>
          </a:prstGeom>
          <a:solidFill>
            <a:srgbClr val="FF7F50">
              <a:alpha val="90196"/>
            </a:srgbClr>
          </a:solidFill>
          <a:ln cap="flat" cmpd="sng" w="12700">
            <a:solidFill>
              <a:srgbClr val="E0604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40" name="Google Shape;140;p6"/>
          <p:cNvSpPr/>
          <p:nvPr/>
        </p:nvSpPr>
        <p:spPr>
          <a:xfrm>
            <a:off x="3200400" y="1417320"/>
            <a:ext cx="2743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50" u="none" cap="none" strike="noStrike">
                <a:solidFill>
                  <a:srgbClr val="FFFFFF"/>
                </a:solidFill>
                <a:latin typeface="Roboto"/>
                <a:ea typeface="Roboto"/>
                <a:cs typeface="Roboto"/>
                <a:sym typeface="Roboto"/>
              </a:rPr>
              <a:t>TACTICAL SATELLITES</a:t>
            </a:r>
            <a:endParaRPr i="0" sz="950" u="none" cap="none" strike="noStrike">
              <a:solidFill>
                <a:schemeClr val="dk1"/>
              </a:solidFill>
              <a:latin typeface="Roboto"/>
              <a:ea typeface="Roboto"/>
              <a:cs typeface="Roboto"/>
              <a:sym typeface="Roboto"/>
            </a:endParaRPr>
          </a:p>
        </p:txBody>
      </p:sp>
      <p:sp>
        <p:nvSpPr>
          <p:cNvPr id="141" name="Google Shape;141;p6"/>
          <p:cNvSpPr/>
          <p:nvPr/>
        </p:nvSpPr>
        <p:spPr>
          <a:xfrm>
            <a:off x="3200400" y="1709928"/>
            <a:ext cx="2743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4C4"/>
              </a:buClr>
              <a:buSzPts val="850"/>
              <a:buFont typeface="Calibri"/>
              <a:buNone/>
            </a:pPr>
            <a:r>
              <a:rPr i="0" lang="en-US" sz="950" u="none" cap="none" strike="noStrike">
                <a:solidFill>
                  <a:srgbClr val="FFD4C4"/>
                </a:solidFill>
                <a:latin typeface="Roboto"/>
                <a:ea typeface="Roboto"/>
                <a:cs typeface="Roboto"/>
                <a:sym typeface="Roboto"/>
              </a:rPr>
              <a:t>~7%  |  Controlled Upside</a:t>
            </a:r>
            <a:endParaRPr i="0" sz="950" u="none" cap="none" strike="noStrike">
              <a:solidFill>
                <a:schemeClr val="dk1"/>
              </a:solidFill>
              <a:latin typeface="Roboto"/>
              <a:ea typeface="Roboto"/>
              <a:cs typeface="Roboto"/>
              <a:sym typeface="Roboto"/>
            </a:endParaRPr>
          </a:p>
        </p:txBody>
      </p:sp>
      <p:sp>
        <p:nvSpPr>
          <p:cNvPr id="142" name="Google Shape;142;p6"/>
          <p:cNvSpPr/>
          <p:nvPr/>
        </p:nvSpPr>
        <p:spPr>
          <a:xfrm>
            <a:off x="2286000" y="2167128"/>
            <a:ext cx="4572000" cy="777240"/>
          </a:xfrm>
          <a:prstGeom prst="rect">
            <a:avLst/>
          </a:prstGeom>
          <a:solidFill>
            <a:srgbClr val="1B3A6B">
              <a:alpha val="94901"/>
            </a:srgbClr>
          </a:solidFill>
          <a:ln cap="flat" cmpd="sng" w="12700">
            <a:solidFill>
              <a:srgbClr val="2A508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43" name="Google Shape;143;p6"/>
          <p:cNvSpPr/>
          <p:nvPr/>
        </p:nvSpPr>
        <p:spPr>
          <a:xfrm>
            <a:off x="2286000" y="2167128"/>
            <a:ext cx="45720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ALPHA ENGINES</a:t>
            </a:r>
            <a:endParaRPr i="0" sz="950" u="none" cap="none" strike="noStrike">
              <a:solidFill>
                <a:schemeClr val="dk1"/>
              </a:solidFill>
              <a:latin typeface="Roboto"/>
              <a:ea typeface="Roboto"/>
              <a:cs typeface="Roboto"/>
              <a:sym typeface="Roboto"/>
            </a:endParaRPr>
          </a:p>
        </p:txBody>
      </p:sp>
      <p:sp>
        <p:nvSpPr>
          <p:cNvPr id="144" name="Google Shape;144;p6"/>
          <p:cNvSpPr/>
          <p:nvPr/>
        </p:nvSpPr>
        <p:spPr>
          <a:xfrm>
            <a:off x="2286000" y="2487168"/>
            <a:ext cx="4572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0C8E8"/>
              </a:buClr>
              <a:buSzPts val="850"/>
              <a:buFont typeface="Calibri"/>
              <a:buNone/>
            </a:pPr>
            <a:r>
              <a:rPr i="0" lang="en-US" sz="950" u="none" cap="none" strike="noStrike">
                <a:solidFill>
                  <a:srgbClr val="B0C8E8"/>
                </a:solidFill>
                <a:latin typeface="Roboto"/>
                <a:ea typeface="Roboto"/>
                <a:cs typeface="Roboto"/>
                <a:sym typeface="Roboto"/>
              </a:rPr>
              <a:t>~56.5%  |  Primary Return Generation</a:t>
            </a:r>
            <a:endParaRPr i="0" sz="950" u="none" cap="none" strike="noStrike">
              <a:solidFill>
                <a:schemeClr val="dk1"/>
              </a:solidFill>
              <a:latin typeface="Roboto"/>
              <a:ea typeface="Roboto"/>
              <a:cs typeface="Roboto"/>
              <a:sym typeface="Roboto"/>
            </a:endParaRPr>
          </a:p>
        </p:txBody>
      </p:sp>
      <p:sp>
        <p:nvSpPr>
          <p:cNvPr id="145" name="Google Shape;145;p6"/>
          <p:cNvSpPr/>
          <p:nvPr/>
        </p:nvSpPr>
        <p:spPr>
          <a:xfrm>
            <a:off x="2112500" y="3035800"/>
            <a:ext cx="4976400" cy="685800"/>
          </a:xfrm>
          <a:prstGeom prst="rect">
            <a:avLst/>
          </a:prstGeom>
          <a:solidFill>
            <a:srgbClr val="1A4A30">
              <a:alpha val="94901"/>
            </a:srgbClr>
          </a:solidFill>
          <a:ln cap="flat" cmpd="sng" w="12700">
            <a:solidFill>
              <a:srgbClr val="2A7048"/>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46" name="Google Shape;146;p6"/>
          <p:cNvSpPr/>
          <p:nvPr/>
        </p:nvSpPr>
        <p:spPr>
          <a:xfrm>
            <a:off x="1166075" y="3019883"/>
            <a:ext cx="64008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950" u="none" cap="none" strike="noStrike">
                <a:solidFill>
                  <a:srgbClr val="FFFFFF"/>
                </a:solidFill>
                <a:latin typeface="Roboto"/>
                <a:ea typeface="Roboto"/>
                <a:cs typeface="Roboto"/>
                <a:sym typeface="Roboto"/>
              </a:rPr>
              <a:t>CORE COMPOUNDERS</a:t>
            </a:r>
            <a:endParaRPr i="0" sz="950" u="none" cap="none" strike="noStrike">
              <a:solidFill>
                <a:schemeClr val="dk1"/>
              </a:solidFill>
              <a:latin typeface="Roboto"/>
              <a:ea typeface="Roboto"/>
              <a:cs typeface="Roboto"/>
              <a:sym typeface="Roboto"/>
            </a:endParaRPr>
          </a:p>
        </p:txBody>
      </p:sp>
      <p:sp>
        <p:nvSpPr>
          <p:cNvPr id="147" name="Google Shape;147;p6"/>
          <p:cNvSpPr/>
          <p:nvPr/>
        </p:nvSpPr>
        <p:spPr>
          <a:xfrm>
            <a:off x="1166075" y="3349067"/>
            <a:ext cx="6400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C49A"/>
              </a:buClr>
              <a:buSzPts val="850"/>
              <a:buFont typeface="Calibri"/>
              <a:buNone/>
            </a:pPr>
            <a:r>
              <a:rPr i="0" lang="en-US" sz="950" u="none" cap="none" strike="noStrike">
                <a:solidFill>
                  <a:srgbClr val="8FC49A"/>
                </a:solidFill>
                <a:latin typeface="Roboto"/>
                <a:ea typeface="Roboto"/>
                <a:cs typeface="Roboto"/>
                <a:sym typeface="Roboto"/>
              </a:rPr>
              <a:t>~36.5%  |  Volatility Anchor &amp; Fundamental Quality</a:t>
            </a:r>
            <a:endParaRPr i="0" sz="950" u="none" cap="none" strike="noStrike">
              <a:solidFill>
                <a:schemeClr val="dk1"/>
              </a:solidFill>
              <a:latin typeface="Roboto"/>
              <a:ea typeface="Roboto"/>
              <a:cs typeface="Roboto"/>
              <a:sym typeface="Roboto"/>
            </a:endParaRPr>
          </a:p>
        </p:txBody>
      </p:sp>
      <p:sp>
        <p:nvSpPr>
          <p:cNvPr id="148" name="Google Shape;148;p6"/>
          <p:cNvSpPr/>
          <p:nvPr/>
        </p:nvSpPr>
        <p:spPr>
          <a:xfrm>
            <a:off x="141947" y="1396770"/>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C35"/>
              </a:buClr>
              <a:buSzPts val="950"/>
              <a:buFont typeface="Calibri"/>
              <a:buNone/>
            </a:pPr>
            <a:r>
              <a:rPr b="1" lang="en-US" sz="950" u="none" cap="none" strike="noStrike">
                <a:solidFill>
                  <a:srgbClr val="1A5C35"/>
                </a:solidFill>
                <a:latin typeface="Roboto"/>
                <a:ea typeface="Roboto"/>
                <a:cs typeface="Roboto"/>
                <a:sym typeface="Roboto"/>
              </a:rPr>
              <a:t>Core Compounders  (~36.5%)</a:t>
            </a:r>
            <a:endParaRPr sz="950" u="none" cap="none" strike="noStrike">
              <a:solidFill>
                <a:schemeClr val="dk1"/>
              </a:solidFill>
              <a:latin typeface="Roboto"/>
              <a:ea typeface="Roboto"/>
              <a:cs typeface="Roboto"/>
              <a:sym typeface="Roboto"/>
            </a:endParaRPr>
          </a:p>
        </p:txBody>
      </p:sp>
      <p:sp>
        <p:nvSpPr>
          <p:cNvPr id="149" name="Google Shape;149;p6"/>
          <p:cNvSpPr/>
          <p:nvPr/>
        </p:nvSpPr>
        <p:spPr>
          <a:xfrm>
            <a:off x="141947" y="1625370"/>
            <a:ext cx="2469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00"/>
              <a:buFont typeface="Calibri"/>
              <a:buNone/>
            </a:pPr>
            <a:r>
              <a:rPr lang="en-US" sz="950" u="none" cap="none" strike="noStrike">
                <a:solidFill>
                  <a:srgbClr val="4A5568"/>
                </a:solidFill>
                <a:latin typeface="Roboto"/>
                <a:ea typeface="Roboto"/>
                <a:cs typeface="Roboto"/>
                <a:sym typeface="Roboto"/>
              </a:rPr>
              <a:t>Role: Volatility Anchor</a:t>
            </a:r>
            <a:endParaRPr sz="950" u="none" cap="none" strike="noStrike">
              <a:solidFill>
                <a:schemeClr val="dk1"/>
              </a:solidFill>
              <a:latin typeface="Roboto"/>
              <a:ea typeface="Roboto"/>
              <a:cs typeface="Roboto"/>
              <a:sym typeface="Roboto"/>
            </a:endParaRPr>
          </a:p>
        </p:txBody>
      </p:sp>
      <p:sp>
        <p:nvSpPr>
          <p:cNvPr id="150" name="Google Shape;150;p6"/>
          <p:cNvSpPr/>
          <p:nvPr/>
        </p:nvSpPr>
        <p:spPr>
          <a:xfrm>
            <a:off x="141947" y="1799106"/>
            <a:ext cx="246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lang="en-US" sz="950" u="none" cap="none" strike="noStrike">
                <a:solidFill>
                  <a:srgbClr val="708090"/>
                </a:solidFill>
                <a:latin typeface="Roboto"/>
                <a:ea typeface="Roboto"/>
                <a:cs typeface="Roboto"/>
                <a:sym typeface="Roboto"/>
              </a:rPr>
              <a:t>Marico · Nestlé · Sun Pharma · ICICI Bank</a:t>
            </a:r>
            <a:endParaRPr sz="950" u="none" cap="none" strike="noStrike">
              <a:solidFill>
                <a:schemeClr val="dk1"/>
              </a:solidFill>
              <a:latin typeface="Roboto"/>
              <a:ea typeface="Roboto"/>
              <a:cs typeface="Roboto"/>
              <a:sym typeface="Roboto"/>
            </a:endParaRPr>
          </a:p>
        </p:txBody>
      </p:sp>
      <p:sp>
        <p:nvSpPr>
          <p:cNvPr id="151" name="Google Shape;151;p6"/>
          <p:cNvSpPr/>
          <p:nvPr/>
        </p:nvSpPr>
        <p:spPr>
          <a:xfrm>
            <a:off x="141947" y="2110002"/>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950"/>
              <a:buFont typeface="Calibri"/>
              <a:buNone/>
            </a:pPr>
            <a:r>
              <a:rPr b="1" lang="en-US" sz="950" u="none" cap="none" strike="noStrike">
                <a:solidFill>
                  <a:srgbClr val="1B3A6B"/>
                </a:solidFill>
                <a:latin typeface="Roboto"/>
                <a:ea typeface="Roboto"/>
                <a:cs typeface="Roboto"/>
                <a:sym typeface="Roboto"/>
              </a:rPr>
              <a:t>Alpha Engines  (~56.5%)</a:t>
            </a:r>
            <a:endParaRPr sz="950" u="none" cap="none" strike="noStrike">
              <a:solidFill>
                <a:schemeClr val="dk1"/>
              </a:solidFill>
              <a:latin typeface="Roboto"/>
              <a:ea typeface="Roboto"/>
              <a:cs typeface="Roboto"/>
              <a:sym typeface="Roboto"/>
            </a:endParaRPr>
          </a:p>
        </p:txBody>
      </p:sp>
      <p:sp>
        <p:nvSpPr>
          <p:cNvPr id="152" name="Google Shape;152;p6"/>
          <p:cNvSpPr/>
          <p:nvPr/>
        </p:nvSpPr>
        <p:spPr>
          <a:xfrm>
            <a:off x="141947" y="2338602"/>
            <a:ext cx="2469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00"/>
              <a:buFont typeface="Calibri"/>
              <a:buNone/>
            </a:pPr>
            <a:r>
              <a:rPr lang="en-US" sz="950" u="none" cap="none" strike="noStrike">
                <a:solidFill>
                  <a:srgbClr val="4A5568"/>
                </a:solidFill>
                <a:latin typeface="Roboto"/>
                <a:ea typeface="Roboto"/>
                <a:cs typeface="Roboto"/>
                <a:sym typeface="Roboto"/>
              </a:rPr>
              <a:t>Role: Primary Return Generation</a:t>
            </a:r>
            <a:endParaRPr sz="950" u="none" cap="none" strike="noStrike">
              <a:solidFill>
                <a:schemeClr val="dk1"/>
              </a:solidFill>
              <a:latin typeface="Roboto"/>
              <a:ea typeface="Roboto"/>
              <a:cs typeface="Roboto"/>
              <a:sym typeface="Roboto"/>
            </a:endParaRPr>
          </a:p>
        </p:txBody>
      </p:sp>
      <p:sp>
        <p:nvSpPr>
          <p:cNvPr id="153" name="Google Shape;153;p6"/>
          <p:cNvSpPr/>
          <p:nvPr/>
        </p:nvSpPr>
        <p:spPr>
          <a:xfrm>
            <a:off x="41747" y="2484763"/>
            <a:ext cx="246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lang="en-US" sz="950" u="none" cap="none" strike="noStrike">
                <a:solidFill>
                  <a:srgbClr val="708090"/>
                </a:solidFill>
                <a:latin typeface="Roboto"/>
                <a:ea typeface="Roboto"/>
                <a:cs typeface="Roboto"/>
                <a:sym typeface="Roboto"/>
              </a:rPr>
              <a:t>Bharti Airtel · Atul · UltraTech · Choice Intl</a:t>
            </a:r>
            <a:endParaRPr sz="950" u="none" cap="none" strike="noStrike">
              <a:solidFill>
                <a:schemeClr val="dk1"/>
              </a:solidFill>
              <a:latin typeface="Roboto"/>
              <a:ea typeface="Roboto"/>
              <a:cs typeface="Roboto"/>
              <a:sym typeface="Roboto"/>
            </a:endParaRPr>
          </a:p>
        </p:txBody>
      </p:sp>
      <p:sp>
        <p:nvSpPr>
          <p:cNvPr id="154" name="Google Shape;154;p6"/>
          <p:cNvSpPr/>
          <p:nvPr/>
        </p:nvSpPr>
        <p:spPr>
          <a:xfrm>
            <a:off x="75147" y="2804947"/>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F50"/>
              </a:buClr>
              <a:buSzPts val="950"/>
              <a:buFont typeface="Calibri"/>
              <a:buNone/>
            </a:pPr>
            <a:r>
              <a:rPr b="1" lang="en-US" sz="950" u="none" cap="none" strike="noStrike">
                <a:solidFill>
                  <a:srgbClr val="FF7F50"/>
                </a:solidFill>
                <a:latin typeface="Roboto"/>
                <a:ea typeface="Roboto"/>
                <a:cs typeface="Roboto"/>
                <a:sym typeface="Roboto"/>
              </a:rPr>
              <a:t>Tactical Satellites  (~7%)</a:t>
            </a:r>
            <a:endParaRPr sz="950" u="none" cap="none" strike="noStrike">
              <a:solidFill>
                <a:schemeClr val="dk1"/>
              </a:solidFill>
              <a:latin typeface="Roboto"/>
              <a:ea typeface="Roboto"/>
              <a:cs typeface="Roboto"/>
              <a:sym typeface="Roboto"/>
            </a:endParaRPr>
          </a:p>
        </p:txBody>
      </p:sp>
      <p:sp>
        <p:nvSpPr>
          <p:cNvPr id="155" name="Google Shape;155;p6"/>
          <p:cNvSpPr/>
          <p:nvPr/>
        </p:nvSpPr>
        <p:spPr>
          <a:xfrm>
            <a:off x="141947" y="3051834"/>
            <a:ext cx="2469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00"/>
              <a:buFont typeface="Calibri"/>
              <a:buNone/>
            </a:pPr>
            <a:r>
              <a:rPr lang="en-US" sz="950" u="none" cap="none" strike="noStrike">
                <a:solidFill>
                  <a:srgbClr val="4A5568"/>
                </a:solidFill>
                <a:latin typeface="Roboto"/>
                <a:ea typeface="Roboto"/>
                <a:cs typeface="Roboto"/>
                <a:sym typeface="Roboto"/>
              </a:rPr>
              <a:t>Role: Controlled Upside</a:t>
            </a:r>
            <a:endParaRPr sz="950" u="none" cap="none" strike="noStrike">
              <a:solidFill>
                <a:schemeClr val="dk1"/>
              </a:solidFill>
              <a:latin typeface="Roboto"/>
              <a:ea typeface="Roboto"/>
              <a:cs typeface="Roboto"/>
              <a:sym typeface="Roboto"/>
            </a:endParaRPr>
          </a:p>
        </p:txBody>
      </p:sp>
      <p:sp>
        <p:nvSpPr>
          <p:cNvPr id="156" name="Google Shape;156;p6"/>
          <p:cNvSpPr/>
          <p:nvPr/>
        </p:nvSpPr>
        <p:spPr>
          <a:xfrm>
            <a:off x="141947" y="3225570"/>
            <a:ext cx="246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8090"/>
              </a:buClr>
              <a:buSzPts val="750"/>
              <a:buFont typeface="Calibri"/>
              <a:buNone/>
            </a:pPr>
            <a:r>
              <a:rPr lang="en-US" sz="950" u="none" cap="none" strike="noStrike">
                <a:solidFill>
                  <a:srgbClr val="708090"/>
                </a:solidFill>
                <a:latin typeface="Roboto"/>
                <a:ea typeface="Roboto"/>
                <a:cs typeface="Roboto"/>
                <a:sym typeface="Roboto"/>
              </a:rPr>
              <a:t>JSW Steel</a:t>
            </a:r>
            <a:endParaRPr sz="950" u="none" cap="none" strike="noStrike">
              <a:solidFill>
                <a:schemeClr val="dk1"/>
              </a:solidFill>
              <a:latin typeface="Roboto"/>
              <a:ea typeface="Roboto"/>
              <a:cs typeface="Roboto"/>
              <a:sym typeface="Roboto"/>
            </a:endParaRPr>
          </a:p>
        </p:txBody>
      </p:sp>
      <p:pic>
        <p:nvPicPr>
          <p:cNvPr id="157" name="Google Shape;157;p6"/>
          <p:cNvPicPr preferRelativeResize="0"/>
          <p:nvPr/>
        </p:nvPicPr>
        <p:blipFill rotWithShape="1">
          <a:blip r:embed="rId3">
            <a:alphaModFix/>
          </a:blip>
          <a:srcRect b="0" l="0" r="0" t="0"/>
          <a:stretch/>
        </p:blipFill>
        <p:spPr>
          <a:xfrm>
            <a:off x="6533061" y="1414975"/>
            <a:ext cx="2211300" cy="2340900"/>
          </a:xfrm>
          <a:prstGeom prst="rect">
            <a:avLst/>
          </a:prstGeom>
          <a:noFill/>
          <a:ln>
            <a:noFill/>
          </a:ln>
        </p:spPr>
      </p:pic>
      <p:sp>
        <p:nvSpPr>
          <p:cNvPr id="158" name="Google Shape;158;p6"/>
          <p:cNvSpPr/>
          <p:nvPr/>
        </p:nvSpPr>
        <p:spPr>
          <a:xfrm>
            <a:off x="347472" y="4315968"/>
            <a:ext cx="8449056" cy="530352"/>
          </a:xfrm>
          <a:prstGeom prst="roundRect">
            <a:avLst>
              <a:gd fmla="val 10345" name="adj"/>
            </a:avLst>
          </a:prstGeom>
          <a:solidFill>
            <a:srgbClr val="F0F4F9"/>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548640" y="4352544"/>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Portfolio architecture allocates capital to layers by function — anchoring volatility with defensive quality, driving returns through high-conviction growth, and capping risk through satellite position limits.</a:t>
            </a:r>
            <a:endParaRPr sz="950" u="none" cap="none" strike="noStrike">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7"/>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365760" y="0"/>
            <a:ext cx="74980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ahoma"/>
                <a:ea typeface="Tahoma"/>
                <a:cs typeface="Tahoma"/>
                <a:sym typeface="Tahoma"/>
              </a:rPr>
              <a:t>DEEP FUNDAMENTAL PRE-FILTRATION</a:t>
            </a:r>
            <a:endParaRPr i="0" sz="1300" u="none" cap="none" strike="noStrike">
              <a:solidFill>
                <a:schemeClr val="dk1"/>
              </a:solidFill>
              <a:latin typeface="Tahoma"/>
              <a:ea typeface="Tahoma"/>
              <a:cs typeface="Tahoma"/>
              <a:sym typeface="Tahoma"/>
            </a:endParaRPr>
          </a:p>
        </p:txBody>
      </p:sp>
      <p:sp>
        <p:nvSpPr>
          <p:cNvPr id="167" name="Google Shape;167;p7"/>
          <p:cNvSpPr/>
          <p:nvPr/>
        </p:nvSpPr>
        <p:spPr>
          <a:xfrm>
            <a:off x="7772400" y="0"/>
            <a:ext cx="109728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05</a:t>
            </a:r>
            <a:endParaRPr b="0" i="0" sz="900" u="none" cap="none" strike="noStrike">
              <a:solidFill>
                <a:schemeClr val="dk1"/>
              </a:solidFill>
              <a:latin typeface="Calibri"/>
              <a:ea typeface="Calibri"/>
              <a:cs typeface="Calibri"/>
              <a:sym typeface="Calibri"/>
            </a:endParaRPr>
          </a:p>
        </p:txBody>
      </p:sp>
      <p:sp>
        <p:nvSpPr>
          <p:cNvPr id="168" name="Google Shape;168;p7"/>
          <p:cNvSpPr/>
          <p:nvPr/>
        </p:nvSpPr>
        <p:spPr>
          <a:xfrm>
            <a:off x="365760" y="804672"/>
            <a:ext cx="841248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548640" y="822960"/>
            <a:ext cx="80467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Optimization begins only after quality control. The optimizer is never allowed to allocate capital to structurally weak businesses.</a:t>
            </a:r>
            <a:endParaRPr i="0" sz="950" u="none" cap="none" strike="noStrike">
              <a:solidFill>
                <a:schemeClr val="dk1"/>
              </a:solidFill>
              <a:latin typeface="Roboto"/>
              <a:ea typeface="Roboto"/>
              <a:cs typeface="Roboto"/>
              <a:sym typeface="Roboto"/>
            </a:endParaRPr>
          </a:p>
        </p:txBody>
      </p:sp>
      <p:sp>
        <p:nvSpPr>
          <p:cNvPr id="170" name="Google Shape;170;p7"/>
          <p:cNvSpPr/>
          <p:nvPr/>
        </p:nvSpPr>
        <p:spPr>
          <a:xfrm>
            <a:off x="457200" y="1417320"/>
            <a:ext cx="3657600" cy="530352"/>
          </a:xfrm>
          <a:prstGeom prst="roundRect">
            <a:avLst>
              <a:gd fmla="val 6897" name="adj"/>
            </a:avLst>
          </a:prstGeom>
          <a:solidFill>
            <a:srgbClr val="0A192F"/>
          </a:solidFill>
          <a:ln cap="flat" cmpd="sng" w="12700">
            <a:solidFill>
              <a:srgbClr val="0A192F"/>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548640" y="1453896"/>
            <a:ext cx="34746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50" u="none" cap="none" strike="noStrike">
                <a:solidFill>
                  <a:srgbClr val="FFFFFF"/>
                </a:solidFill>
                <a:latin typeface="Roboto"/>
                <a:ea typeface="Roboto"/>
                <a:cs typeface="Roboto"/>
                <a:sym typeface="Roboto"/>
              </a:rPr>
              <a:t>Broad Universe</a:t>
            </a:r>
            <a:endParaRPr i="0" sz="950" u="none" cap="none" strike="noStrike">
              <a:solidFill>
                <a:schemeClr val="dk1"/>
              </a:solidFill>
              <a:latin typeface="Roboto"/>
              <a:ea typeface="Roboto"/>
              <a:cs typeface="Roboto"/>
              <a:sym typeface="Roboto"/>
            </a:endParaRPr>
          </a:p>
        </p:txBody>
      </p:sp>
      <p:sp>
        <p:nvSpPr>
          <p:cNvPr id="172" name="Google Shape;172;p7"/>
          <p:cNvSpPr/>
          <p:nvPr/>
        </p:nvSpPr>
        <p:spPr>
          <a:xfrm>
            <a:off x="548640" y="1691640"/>
            <a:ext cx="34747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84B"/>
              </a:buClr>
              <a:buSzPts val="1000"/>
              <a:buFont typeface="Calibri"/>
              <a:buNone/>
            </a:pPr>
            <a:r>
              <a:rPr b="1" i="0" lang="en-US" sz="950" u="none" cap="none" strike="noStrike">
                <a:solidFill>
                  <a:srgbClr val="C8A84B"/>
                </a:solidFill>
                <a:latin typeface="Roboto"/>
                <a:ea typeface="Roboto"/>
                <a:cs typeface="Roboto"/>
                <a:sym typeface="Roboto"/>
              </a:rPr>
              <a:t>500+ Stocks</a:t>
            </a:r>
            <a:endParaRPr i="0" sz="950" u="none" cap="none" strike="noStrike">
              <a:solidFill>
                <a:schemeClr val="dk1"/>
              </a:solidFill>
              <a:latin typeface="Roboto"/>
              <a:ea typeface="Roboto"/>
              <a:cs typeface="Roboto"/>
              <a:sym typeface="Roboto"/>
            </a:endParaRPr>
          </a:p>
        </p:txBody>
      </p:sp>
      <p:cxnSp>
        <p:nvCxnSpPr>
          <p:cNvPr id="173" name="Google Shape;173;p7"/>
          <p:cNvCxnSpPr/>
          <p:nvPr/>
        </p:nvCxnSpPr>
        <p:spPr>
          <a:xfrm>
            <a:off x="2286000" y="1956816"/>
            <a:ext cx="0" cy="146304"/>
          </a:xfrm>
          <a:prstGeom prst="straightConnector1">
            <a:avLst/>
          </a:prstGeom>
          <a:noFill/>
          <a:ln cap="flat" cmpd="sng" w="25400">
            <a:solidFill>
              <a:srgbClr val="708090"/>
            </a:solidFill>
            <a:prstDash val="solid"/>
            <a:round/>
            <a:headEnd len="sm" w="sm" type="none"/>
            <a:tailEnd len="sm" w="sm" type="none"/>
          </a:ln>
        </p:spPr>
      </p:cxnSp>
      <p:sp>
        <p:nvSpPr>
          <p:cNvPr id="174" name="Google Shape;174;p7"/>
          <p:cNvSpPr/>
          <p:nvPr/>
        </p:nvSpPr>
        <p:spPr>
          <a:xfrm>
            <a:off x="777240" y="2112264"/>
            <a:ext cx="3017520" cy="530352"/>
          </a:xfrm>
          <a:prstGeom prst="roundRect">
            <a:avLst>
              <a:gd fmla="val 6897" name="adj"/>
            </a:avLst>
          </a:prstGeom>
          <a:solidFill>
            <a:srgbClr val="1B3A6B"/>
          </a:solidFill>
          <a:ln cap="flat" cmpd="sng" w="12700">
            <a:solidFill>
              <a:srgbClr val="1B3A6B"/>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868680" y="2148840"/>
            <a:ext cx="28346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50" u="none" cap="none" strike="noStrike">
                <a:solidFill>
                  <a:srgbClr val="FFFFFF"/>
                </a:solidFill>
                <a:latin typeface="Roboto"/>
                <a:ea typeface="Roboto"/>
                <a:cs typeface="Roboto"/>
                <a:sym typeface="Roboto"/>
              </a:rPr>
              <a:t>Industry Screen</a:t>
            </a:r>
            <a:endParaRPr i="0" sz="950" u="none" cap="none" strike="noStrike">
              <a:solidFill>
                <a:schemeClr val="dk1"/>
              </a:solidFill>
              <a:latin typeface="Roboto"/>
              <a:ea typeface="Roboto"/>
              <a:cs typeface="Roboto"/>
              <a:sym typeface="Roboto"/>
            </a:endParaRPr>
          </a:p>
        </p:txBody>
      </p:sp>
      <p:sp>
        <p:nvSpPr>
          <p:cNvPr id="176" name="Google Shape;176;p7"/>
          <p:cNvSpPr/>
          <p:nvPr/>
        </p:nvSpPr>
        <p:spPr>
          <a:xfrm>
            <a:off x="868680" y="2386584"/>
            <a:ext cx="28346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84B"/>
              </a:buClr>
              <a:buSzPts val="1000"/>
              <a:buFont typeface="Calibri"/>
              <a:buNone/>
            </a:pPr>
            <a:r>
              <a:rPr b="1" i="0" lang="en-US" sz="1000" u="none" cap="none" strike="noStrike">
                <a:solidFill>
                  <a:srgbClr val="C8A84B"/>
                </a:solidFill>
                <a:latin typeface="Roboto"/>
                <a:ea typeface="Roboto"/>
                <a:cs typeface="Roboto"/>
                <a:sym typeface="Roboto"/>
              </a:rPr>
              <a:t>~120 Candidates</a:t>
            </a:r>
            <a:endParaRPr i="0" sz="1000" u="none" cap="none" strike="noStrike">
              <a:solidFill>
                <a:schemeClr val="dk1"/>
              </a:solidFill>
              <a:latin typeface="Roboto"/>
              <a:ea typeface="Roboto"/>
              <a:cs typeface="Roboto"/>
              <a:sym typeface="Roboto"/>
            </a:endParaRPr>
          </a:p>
        </p:txBody>
      </p:sp>
      <p:cxnSp>
        <p:nvCxnSpPr>
          <p:cNvPr id="177" name="Google Shape;177;p7"/>
          <p:cNvCxnSpPr/>
          <p:nvPr/>
        </p:nvCxnSpPr>
        <p:spPr>
          <a:xfrm>
            <a:off x="2286000" y="2651760"/>
            <a:ext cx="0" cy="146304"/>
          </a:xfrm>
          <a:prstGeom prst="straightConnector1">
            <a:avLst/>
          </a:prstGeom>
          <a:noFill/>
          <a:ln cap="flat" cmpd="sng" w="25400">
            <a:solidFill>
              <a:srgbClr val="708090"/>
            </a:solidFill>
            <a:prstDash val="solid"/>
            <a:round/>
            <a:headEnd len="sm" w="sm" type="none"/>
            <a:tailEnd len="sm" w="sm" type="none"/>
          </a:ln>
        </p:spPr>
      </p:cxnSp>
      <p:sp>
        <p:nvSpPr>
          <p:cNvPr id="178" name="Google Shape;178;p7"/>
          <p:cNvSpPr/>
          <p:nvPr/>
        </p:nvSpPr>
        <p:spPr>
          <a:xfrm>
            <a:off x="1143000" y="2807208"/>
            <a:ext cx="2286000" cy="530352"/>
          </a:xfrm>
          <a:prstGeom prst="roundRect">
            <a:avLst>
              <a:gd fmla="val 6897" name="adj"/>
            </a:avLst>
          </a:prstGeom>
          <a:solidFill>
            <a:srgbClr val="1A4A30"/>
          </a:solidFill>
          <a:ln cap="flat" cmpd="sng" w="12700">
            <a:solidFill>
              <a:srgbClr val="1A4A3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1234440" y="2843784"/>
            <a:ext cx="21031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50" u="none" cap="none" strike="noStrike">
                <a:solidFill>
                  <a:srgbClr val="FFFFFF"/>
                </a:solidFill>
                <a:latin typeface="Roboto"/>
                <a:ea typeface="Roboto"/>
                <a:cs typeface="Roboto"/>
                <a:sym typeface="Roboto"/>
              </a:rPr>
              <a:t>Fundamental Quality Filter</a:t>
            </a:r>
            <a:endParaRPr i="0" sz="950" u="none" cap="none" strike="noStrike">
              <a:solidFill>
                <a:schemeClr val="dk1"/>
              </a:solidFill>
              <a:latin typeface="Roboto"/>
              <a:ea typeface="Roboto"/>
              <a:cs typeface="Roboto"/>
              <a:sym typeface="Roboto"/>
            </a:endParaRPr>
          </a:p>
        </p:txBody>
      </p:sp>
      <p:sp>
        <p:nvSpPr>
          <p:cNvPr id="180" name="Google Shape;180;p7"/>
          <p:cNvSpPr/>
          <p:nvPr/>
        </p:nvSpPr>
        <p:spPr>
          <a:xfrm>
            <a:off x="1234440" y="3081528"/>
            <a:ext cx="210312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84B"/>
              </a:buClr>
              <a:buSzPts val="1000"/>
              <a:buFont typeface="Calibri"/>
              <a:buNone/>
            </a:pPr>
            <a:r>
              <a:rPr b="1" i="0" lang="en-US" sz="950" u="none" cap="none" strike="noStrike">
                <a:solidFill>
                  <a:srgbClr val="C8A84B"/>
                </a:solidFill>
                <a:latin typeface="Roboto"/>
                <a:ea typeface="Roboto"/>
                <a:cs typeface="Roboto"/>
                <a:sym typeface="Roboto"/>
              </a:rPr>
              <a:t>~40 Qualified</a:t>
            </a:r>
            <a:endParaRPr i="0" sz="950" u="none" cap="none" strike="noStrike">
              <a:solidFill>
                <a:schemeClr val="dk1"/>
              </a:solidFill>
              <a:latin typeface="Roboto"/>
              <a:ea typeface="Roboto"/>
              <a:cs typeface="Roboto"/>
              <a:sym typeface="Roboto"/>
            </a:endParaRPr>
          </a:p>
        </p:txBody>
      </p:sp>
      <p:cxnSp>
        <p:nvCxnSpPr>
          <p:cNvPr id="181" name="Google Shape;181;p7"/>
          <p:cNvCxnSpPr/>
          <p:nvPr/>
        </p:nvCxnSpPr>
        <p:spPr>
          <a:xfrm>
            <a:off x="2286000" y="3346704"/>
            <a:ext cx="0" cy="146304"/>
          </a:xfrm>
          <a:prstGeom prst="straightConnector1">
            <a:avLst/>
          </a:prstGeom>
          <a:noFill/>
          <a:ln cap="flat" cmpd="sng" w="25400">
            <a:solidFill>
              <a:srgbClr val="708090"/>
            </a:solidFill>
            <a:prstDash val="solid"/>
            <a:round/>
            <a:headEnd len="sm" w="sm" type="none"/>
            <a:tailEnd len="sm" w="sm" type="none"/>
          </a:ln>
        </p:spPr>
      </p:cxnSp>
      <p:sp>
        <p:nvSpPr>
          <p:cNvPr id="182" name="Google Shape;182;p7"/>
          <p:cNvSpPr/>
          <p:nvPr/>
        </p:nvSpPr>
        <p:spPr>
          <a:xfrm>
            <a:off x="1508760" y="3502152"/>
            <a:ext cx="1554480" cy="530352"/>
          </a:xfrm>
          <a:prstGeom prst="roundRect">
            <a:avLst>
              <a:gd fmla="val 6897" name="adj"/>
            </a:avLst>
          </a:prstGeom>
          <a:solidFill>
            <a:srgbClr val="2E8B57"/>
          </a:solidFill>
          <a:ln cap="flat" cmpd="sng" w="12700">
            <a:solidFill>
              <a:srgbClr val="2E8B57"/>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1600200" y="3538728"/>
            <a:ext cx="1371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50" u="none" cap="none" strike="noStrike">
                <a:solidFill>
                  <a:srgbClr val="FFFFFF"/>
                </a:solidFill>
                <a:latin typeface="Roboto"/>
                <a:ea typeface="Roboto"/>
                <a:cs typeface="Roboto"/>
                <a:sym typeface="Roboto"/>
              </a:rPr>
              <a:t>Portfolio Holdings</a:t>
            </a:r>
            <a:endParaRPr i="0" sz="950" u="none" cap="none" strike="noStrike">
              <a:solidFill>
                <a:schemeClr val="dk1"/>
              </a:solidFill>
              <a:latin typeface="Roboto"/>
              <a:ea typeface="Roboto"/>
              <a:cs typeface="Roboto"/>
              <a:sym typeface="Roboto"/>
            </a:endParaRPr>
          </a:p>
        </p:txBody>
      </p:sp>
      <p:sp>
        <p:nvSpPr>
          <p:cNvPr id="184" name="Google Shape;184;p7"/>
          <p:cNvSpPr/>
          <p:nvPr/>
        </p:nvSpPr>
        <p:spPr>
          <a:xfrm>
            <a:off x="1600200" y="3776472"/>
            <a:ext cx="13716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A84B"/>
              </a:buClr>
              <a:buSzPts val="1000"/>
              <a:buFont typeface="Calibri"/>
              <a:buNone/>
            </a:pPr>
            <a:r>
              <a:rPr b="1" i="0" lang="en-US" sz="950" u="none" cap="none" strike="noStrike">
                <a:solidFill>
                  <a:srgbClr val="C8A84B"/>
                </a:solidFill>
                <a:latin typeface="Roboto"/>
                <a:ea typeface="Roboto"/>
                <a:cs typeface="Roboto"/>
                <a:sym typeface="Roboto"/>
              </a:rPr>
              <a:t>16 Securities</a:t>
            </a:r>
            <a:endParaRPr i="0" sz="950" u="none" cap="none" strike="noStrike">
              <a:solidFill>
                <a:schemeClr val="dk1"/>
              </a:solidFill>
              <a:latin typeface="Roboto"/>
              <a:ea typeface="Roboto"/>
              <a:cs typeface="Roboto"/>
              <a:sym typeface="Roboto"/>
            </a:endParaRPr>
          </a:p>
        </p:txBody>
      </p:sp>
      <p:sp>
        <p:nvSpPr>
          <p:cNvPr id="185" name="Google Shape;185;p7"/>
          <p:cNvSpPr/>
          <p:nvPr/>
        </p:nvSpPr>
        <p:spPr>
          <a:xfrm>
            <a:off x="4709160" y="1399032"/>
            <a:ext cx="4069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QUALITY FILTRATION METRICS</a:t>
            </a:r>
            <a:endParaRPr i="0" sz="950" u="none" cap="none" strike="noStrike">
              <a:solidFill>
                <a:schemeClr val="dk1"/>
              </a:solidFill>
              <a:latin typeface="Roboto"/>
              <a:ea typeface="Roboto"/>
              <a:cs typeface="Roboto"/>
              <a:sym typeface="Roboto"/>
            </a:endParaRPr>
          </a:p>
        </p:txBody>
      </p:sp>
      <p:sp>
        <p:nvSpPr>
          <p:cNvPr id="186" name="Google Shape;186;p7"/>
          <p:cNvSpPr/>
          <p:nvPr/>
        </p:nvSpPr>
        <p:spPr>
          <a:xfrm>
            <a:off x="4681728" y="1719072"/>
            <a:ext cx="4114800" cy="347472"/>
          </a:xfrm>
          <a:prstGeom prst="roundRect">
            <a:avLst>
              <a:gd fmla="val 13158"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87" name="Google Shape;187;p7"/>
          <p:cNvSpPr/>
          <p:nvPr/>
        </p:nvSpPr>
        <p:spPr>
          <a:xfrm>
            <a:off x="4736592" y="1801368"/>
            <a:ext cx="182880" cy="182880"/>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88" name="Google Shape;188;p7"/>
          <p:cNvSpPr/>
          <p:nvPr/>
        </p:nvSpPr>
        <p:spPr>
          <a:xfrm>
            <a:off x="4974336" y="1755648"/>
            <a:ext cx="1920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Operating Margin</a:t>
            </a:r>
            <a:endParaRPr i="0" sz="950" u="none" cap="none" strike="noStrike">
              <a:solidFill>
                <a:schemeClr val="dk1"/>
              </a:solidFill>
              <a:latin typeface="Roboto"/>
              <a:ea typeface="Roboto"/>
              <a:cs typeface="Roboto"/>
              <a:sym typeface="Roboto"/>
            </a:endParaRPr>
          </a:p>
        </p:txBody>
      </p:sp>
      <p:sp>
        <p:nvSpPr>
          <p:cNvPr id="189" name="Google Shape;189;p7"/>
          <p:cNvSpPr/>
          <p:nvPr/>
        </p:nvSpPr>
        <p:spPr>
          <a:xfrm>
            <a:off x="4974336" y="1911096"/>
            <a:ext cx="374904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750"/>
              <a:buFont typeface="Calibri"/>
              <a:buNone/>
            </a:pPr>
            <a:r>
              <a:rPr i="0" lang="en-US" sz="950" u="none" cap="none" strike="noStrike">
                <a:solidFill>
                  <a:srgbClr val="4A5568"/>
                </a:solidFill>
                <a:latin typeface="Roboto"/>
                <a:ea typeface="Roboto"/>
                <a:cs typeface="Roboto"/>
                <a:sym typeface="Roboto"/>
              </a:rPr>
              <a:t>Profitability efficiency at operational level</a:t>
            </a:r>
            <a:endParaRPr i="0" sz="950" u="none" cap="none" strike="noStrike">
              <a:solidFill>
                <a:schemeClr val="dk1"/>
              </a:solidFill>
              <a:latin typeface="Roboto"/>
              <a:ea typeface="Roboto"/>
              <a:cs typeface="Roboto"/>
              <a:sym typeface="Roboto"/>
            </a:endParaRPr>
          </a:p>
        </p:txBody>
      </p:sp>
      <p:sp>
        <p:nvSpPr>
          <p:cNvPr id="190" name="Google Shape;190;p7"/>
          <p:cNvSpPr/>
          <p:nvPr/>
        </p:nvSpPr>
        <p:spPr>
          <a:xfrm>
            <a:off x="4681728" y="2139696"/>
            <a:ext cx="4114800" cy="347472"/>
          </a:xfrm>
          <a:prstGeom prst="roundRect">
            <a:avLst>
              <a:gd fmla="val 13158"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91" name="Google Shape;191;p7"/>
          <p:cNvSpPr/>
          <p:nvPr/>
        </p:nvSpPr>
        <p:spPr>
          <a:xfrm>
            <a:off x="4736592" y="2221992"/>
            <a:ext cx="182880" cy="182880"/>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92" name="Google Shape;192;p7"/>
          <p:cNvSpPr/>
          <p:nvPr/>
        </p:nvSpPr>
        <p:spPr>
          <a:xfrm>
            <a:off x="4974336" y="2176272"/>
            <a:ext cx="1920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Revenue Growth</a:t>
            </a:r>
            <a:endParaRPr i="0" sz="950" u="none" cap="none" strike="noStrike">
              <a:solidFill>
                <a:schemeClr val="dk1"/>
              </a:solidFill>
              <a:latin typeface="Roboto"/>
              <a:ea typeface="Roboto"/>
              <a:cs typeface="Roboto"/>
              <a:sym typeface="Roboto"/>
            </a:endParaRPr>
          </a:p>
        </p:txBody>
      </p:sp>
      <p:sp>
        <p:nvSpPr>
          <p:cNvPr id="193" name="Google Shape;193;p7"/>
          <p:cNvSpPr/>
          <p:nvPr/>
        </p:nvSpPr>
        <p:spPr>
          <a:xfrm>
            <a:off x="4974336" y="2331720"/>
            <a:ext cx="374904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750"/>
              <a:buFont typeface="Calibri"/>
              <a:buNone/>
            </a:pPr>
            <a:r>
              <a:rPr i="0" lang="en-US" sz="950" u="none" cap="none" strike="noStrike">
                <a:solidFill>
                  <a:srgbClr val="4A5568"/>
                </a:solidFill>
                <a:latin typeface="Roboto"/>
                <a:ea typeface="Roboto"/>
                <a:cs typeface="Roboto"/>
                <a:sym typeface="Roboto"/>
              </a:rPr>
              <a:t>Sustainable top-line expansion trajectory</a:t>
            </a:r>
            <a:endParaRPr i="0" sz="950" u="none" cap="none" strike="noStrike">
              <a:solidFill>
                <a:schemeClr val="dk1"/>
              </a:solidFill>
              <a:latin typeface="Roboto"/>
              <a:ea typeface="Roboto"/>
              <a:cs typeface="Roboto"/>
              <a:sym typeface="Roboto"/>
            </a:endParaRPr>
          </a:p>
        </p:txBody>
      </p:sp>
      <p:sp>
        <p:nvSpPr>
          <p:cNvPr id="194" name="Google Shape;194;p7"/>
          <p:cNvSpPr/>
          <p:nvPr/>
        </p:nvSpPr>
        <p:spPr>
          <a:xfrm>
            <a:off x="4681728" y="2560320"/>
            <a:ext cx="4114800" cy="347472"/>
          </a:xfrm>
          <a:prstGeom prst="roundRect">
            <a:avLst>
              <a:gd fmla="val 13158"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95" name="Google Shape;195;p7"/>
          <p:cNvSpPr/>
          <p:nvPr/>
        </p:nvSpPr>
        <p:spPr>
          <a:xfrm>
            <a:off x="4736592" y="2642616"/>
            <a:ext cx="182880" cy="182880"/>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96" name="Google Shape;196;p7"/>
          <p:cNvSpPr/>
          <p:nvPr/>
        </p:nvSpPr>
        <p:spPr>
          <a:xfrm>
            <a:off x="4974336" y="2596896"/>
            <a:ext cx="1920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Debt-to-Equity</a:t>
            </a:r>
            <a:endParaRPr i="0" sz="950" u="none" cap="none" strike="noStrike">
              <a:solidFill>
                <a:schemeClr val="dk1"/>
              </a:solidFill>
              <a:latin typeface="Roboto"/>
              <a:ea typeface="Roboto"/>
              <a:cs typeface="Roboto"/>
              <a:sym typeface="Roboto"/>
            </a:endParaRPr>
          </a:p>
        </p:txBody>
      </p:sp>
      <p:sp>
        <p:nvSpPr>
          <p:cNvPr id="197" name="Google Shape;197;p7"/>
          <p:cNvSpPr/>
          <p:nvPr/>
        </p:nvSpPr>
        <p:spPr>
          <a:xfrm>
            <a:off x="4974336" y="2752344"/>
            <a:ext cx="374904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750"/>
              <a:buFont typeface="Calibri"/>
              <a:buNone/>
            </a:pPr>
            <a:r>
              <a:rPr i="0" lang="en-US" sz="950" u="none" cap="none" strike="noStrike">
                <a:solidFill>
                  <a:srgbClr val="4A5568"/>
                </a:solidFill>
                <a:latin typeface="Roboto"/>
                <a:ea typeface="Roboto"/>
                <a:cs typeface="Roboto"/>
                <a:sym typeface="Roboto"/>
              </a:rPr>
              <a:t>Balance sheet strength and leverage control</a:t>
            </a:r>
            <a:endParaRPr i="0" sz="950" u="none" cap="none" strike="noStrike">
              <a:solidFill>
                <a:schemeClr val="dk1"/>
              </a:solidFill>
              <a:latin typeface="Roboto"/>
              <a:ea typeface="Roboto"/>
              <a:cs typeface="Roboto"/>
              <a:sym typeface="Roboto"/>
            </a:endParaRPr>
          </a:p>
        </p:txBody>
      </p:sp>
      <p:sp>
        <p:nvSpPr>
          <p:cNvPr id="198" name="Google Shape;198;p7"/>
          <p:cNvSpPr/>
          <p:nvPr/>
        </p:nvSpPr>
        <p:spPr>
          <a:xfrm>
            <a:off x="4681728" y="2980944"/>
            <a:ext cx="4114800" cy="347472"/>
          </a:xfrm>
          <a:prstGeom prst="roundRect">
            <a:avLst>
              <a:gd fmla="val 13158"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199" name="Google Shape;199;p7"/>
          <p:cNvSpPr/>
          <p:nvPr/>
        </p:nvSpPr>
        <p:spPr>
          <a:xfrm>
            <a:off x="4736592" y="3063240"/>
            <a:ext cx="182880" cy="182880"/>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00" name="Google Shape;200;p7"/>
          <p:cNvSpPr/>
          <p:nvPr/>
        </p:nvSpPr>
        <p:spPr>
          <a:xfrm>
            <a:off x="4974336" y="3017520"/>
            <a:ext cx="1920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Return on Equity (ROE)</a:t>
            </a:r>
            <a:endParaRPr i="0" sz="950" u="none" cap="none" strike="noStrike">
              <a:solidFill>
                <a:schemeClr val="dk1"/>
              </a:solidFill>
              <a:latin typeface="Roboto"/>
              <a:ea typeface="Roboto"/>
              <a:cs typeface="Roboto"/>
              <a:sym typeface="Roboto"/>
            </a:endParaRPr>
          </a:p>
        </p:txBody>
      </p:sp>
      <p:sp>
        <p:nvSpPr>
          <p:cNvPr id="201" name="Google Shape;201;p7"/>
          <p:cNvSpPr/>
          <p:nvPr/>
        </p:nvSpPr>
        <p:spPr>
          <a:xfrm>
            <a:off x="4974336" y="3172968"/>
            <a:ext cx="374904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750"/>
              <a:buFont typeface="Calibri"/>
              <a:buNone/>
            </a:pPr>
            <a:r>
              <a:rPr i="0" lang="en-US" sz="950" u="none" cap="none" strike="noStrike">
                <a:solidFill>
                  <a:srgbClr val="4A5568"/>
                </a:solidFill>
                <a:latin typeface="Roboto"/>
                <a:ea typeface="Roboto"/>
                <a:cs typeface="Roboto"/>
                <a:sym typeface="Roboto"/>
              </a:rPr>
              <a:t>Shareholder value creation efficiency</a:t>
            </a:r>
            <a:endParaRPr i="0" sz="950" u="none" cap="none" strike="noStrike">
              <a:solidFill>
                <a:schemeClr val="dk1"/>
              </a:solidFill>
              <a:latin typeface="Roboto"/>
              <a:ea typeface="Roboto"/>
              <a:cs typeface="Roboto"/>
              <a:sym typeface="Roboto"/>
            </a:endParaRPr>
          </a:p>
        </p:txBody>
      </p:sp>
      <p:sp>
        <p:nvSpPr>
          <p:cNvPr id="202" name="Google Shape;202;p7"/>
          <p:cNvSpPr/>
          <p:nvPr/>
        </p:nvSpPr>
        <p:spPr>
          <a:xfrm>
            <a:off x="4681728" y="3401568"/>
            <a:ext cx="4114800" cy="347472"/>
          </a:xfrm>
          <a:prstGeom prst="roundRect">
            <a:avLst>
              <a:gd fmla="val 13158"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03" name="Google Shape;203;p7"/>
          <p:cNvSpPr/>
          <p:nvPr/>
        </p:nvSpPr>
        <p:spPr>
          <a:xfrm>
            <a:off x="4736592" y="3483864"/>
            <a:ext cx="182880" cy="182880"/>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04" name="Google Shape;204;p7"/>
          <p:cNvSpPr/>
          <p:nvPr/>
        </p:nvSpPr>
        <p:spPr>
          <a:xfrm>
            <a:off x="4974336" y="3438144"/>
            <a:ext cx="1920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ROCE</a:t>
            </a:r>
            <a:endParaRPr i="0" sz="950" u="none" cap="none" strike="noStrike">
              <a:solidFill>
                <a:schemeClr val="dk1"/>
              </a:solidFill>
              <a:latin typeface="Roboto"/>
              <a:ea typeface="Roboto"/>
              <a:cs typeface="Roboto"/>
              <a:sym typeface="Roboto"/>
            </a:endParaRPr>
          </a:p>
        </p:txBody>
      </p:sp>
      <p:sp>
        <p:nvSpPr>
          <p:cNvPr id="205" name="Google Shape;205;p7"/>
          <p:cNvSpPr/>
          <p:nvPr/>
        </p:nvSpPr>
        <p:spPr>
          <a:xfrm>
            <a:off x="4974336" y="3593592"/>
            <a:ext cx="374904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750"/>
              <a:buFont typeface="Calibri"/>
              <a:buNone/>
            </a:pPr>
            <a:r>
              <a:rPr i="0" lang="en-US" sz="950" u="none" cap="none" strike="noStrike">
                <a:solidFill>
                  <a:srgbClr val="4A5568"/>
                </a:solidFill>
                <a:latin typeface="Roboto"/>
                <a:ea typeface="Roboto"/>
                <a:cs typeface="Roboto"/>
                <a:sym typeface="Roboto"/>
              </a:rPr>
              <a:t>Capital deployment effectiveness</a:t>
            </a:r>
            <a:endParaRPr i="0" sz="950" u="none" cap="none" strike="noStrike">
              <a:solidFill>
                <a:schemeClr val="dk1"/>
              </a:solidFill>
              <a:latin typeface="Roboto"/>
              <a:ea typeface="Roboto"/>
              <a:cs typeface="Roboto"/>
              <a:sym typeface="Roboto"/>
            </a:endParaRPr>
          </a:p>
        </p:txBody>
      </p:sp>
      <p:sp>
        <p:nvSpPr>
          <p:cNvPr id="206" name="Google Shape;206;p7"/>
          <p:cNvSpPr/>
          <p:nvPr/>
        </p:nvSpPr>
        <p:spPr>
          <a:xfrm>
            <a:off x="4681728" y="3822192"/>
            <a:ext cx="4114800" cy="347472"/>
          </a:xfrm>
          <a:prstGeom prst="roundRect">
            <a:avLst>
              <a:gd fmla="val 13158"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07" name="Google Shape;207;p7"/>
          <p:cNvSpPr/>
          <p:nvPr/>
        </p:nvSpPr>
        <p:spPr>
          <a:xfrm>
            <a:off x="4736592" y="3904488"/>
            <a:ext cx="182880" cy="182880"/>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08" name="Google Shape;208;p7"/>
          <p:cNvSpPr/>
          <p:nvPr/>
        </p:nvSpPr>
        <p:spPr>
          <a:xfrm>
            <a:off x="4974336" y="3858768"/>
            <a:ext cx="19202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Industry Relative Quality</a:t>
            </a:r>
            <a:endParaRPr i="0" sz="950" u="none" cap="none" strike="noStrike">
              <a:solidFill>
                <a:schemeClr val="dk1"/>
              </a:solidFill>
              <a:latin typeface="Roboto"/>
              <a:ea typeface="Roboto"/>
              <a:cs typeface="Roboto"/>
              <a:sym typeface="Roboto"/>
            </a:endParaRPr>
          </a:p>
        </p:txBody>
      </p:sp>
      <p:sp>
        <p:nvSpPr>
          <p:cNvPr id="209" name="Google Shape;209;p7"/>
          <p:cNvSpPr/>
          <p:nvPr/>
        </p:nvSpPr>
        <p:spPr>
          <a:xfrm>
            <a:off x="4974336" y="4014216"/>
            <a:ext cx="374904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750"/>
              <a:buFont typeface="Calibri"/>
              <a:buNone/>
            </a:pPr>
            <a:r>
              <a:rPr i="0" lang="en-US" sz="950" u="none" cap="none" strike="noStrike">
                <a:solidFill>
                  <a:srgbClr val="4A5568"/>
                </a:solidFill>
                <a:latin typeface="Roboto"/>
                <a:ea typeface="Roboto"/>
                <a:cs typeface="Roboto"/>
                <a:sym typeface="Roboto"/>
              </a:rPr>
              <a:t>Peer benchmarking for sector context</a:t>
            </a:r>
            <a:endParaRPr i="0" sz="950" u="none" cap="none" strike="noStrike">
              <a:solidFill>
                <a:schemeClr val="dk1"/>
              </a:solidFill>
              <a:latin typeface="Roboto"/>
              <a:ea typeface="Roboto"/>
              <a:cs typeface="Roboto"/>
              <a:sym typeface="Roboto"/>
            </a:endParaRPr>
          </a:p>
        </p:txBody>
      </p:sp>
      <p:sp>
        <p:nvSpPr>
          <p:cNvPr id="210" name="Google Shape;210;p7"/>
          <p:cNvSpPr/>
          <p:nvPr/>
        </p:nvSpPr>
        <p:spPr>
          <a:xfrm>
            <a:off x="4681728" y="4297680"/>
            <a:ext cx="4114800" cy="548640"/>
          </a:xfrm>
          <a:prstGeom prst="roundRect">
            <a:avLst>
              <a:gd fmla="val 10000" name="adj"/>
            </a:avLst>
          </a:prstGeom>
          <a:solidFill>
            <a:srgbClr val="FFF0EB"/>
          </a:solidFill>
          <a:ln cap="flat" cmpd="sng" w="19050">
            <a:solidFill>
              <a:srgbClr val="FF7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4828032" y="4334256"/>
            <a:ext cx="38404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F50"/>
              </a:buClr>
              <a:buSzPts val="900"/>
              <a:buFont typeface="Calibri"/>
              <a:buNone/>
            </a:pPr>
            <a:r>
              <a:rPr b="1" i="0" lang="en-US" sz="950" u="none" cap="none" strike="noStrike">
                <a:solidFill>
                  <a:srgbClr val="FF7F50"/>
                </a:solidFill>
                <a:latin typeface="Roboto"/>
                <a:ea typeface="Roboto"/>
                <a:cs typeface="Roboto"/>
                <a:sym typeface="Roboto"/>
              </a:rPr>
              <a:t>QUALITY THRESHOLD  </a:t>
            </a:r>
            <a:r>
              <a:rPr i="0" lang="en-US" sz="950" u="none" cap="none" strike="noStrike">
                <a:solidFill>
                  <a:srgbClr val="0A192F"/>
                </a:solidFill>
                <a:latin typeface="Roboto"/>
                <a:ea typeface="Roboto"/>
                <a:cs typeface="Roboto"/>
                <a:sym typeface="Roboto"/>
              </a:rPr>
              <a:t>Fundamental Score &lt; 0.45 → Automatically Eliminated</a:t>
            </a:r>
            <a:endParaRPr i="0" sz="950" u="none" cap="none" strike="noStrike">
              <a:solidFill>
                <a:schemeClr val="dk1"/>
              </a:solidFill>
              <a:latin typeface="Roboto"/>
              <a:ea typeface="Roboto"/>
              <a:cs typeface="Roboto"/>
              <a:sym typeface="Roboto"/>
            </a:endParaRPr>
          </a:p>
        </p:txBody>
      </p:sp>
      <p:sp>
        <p:nvSpPr>
          <p:cNvPr id="212" name="Google Shape;212;p7"/>
          <p:cNvSpPr/>
          <p:nvPr/>
        </p:nvSpPr>
        <p:spPr>
          <a:xfrm>
            <a:off x="347472" y="4315968"/>
            <a:ext cx="4160520" cy="530352"/>
          </a:xfrm>
          <a:prstGeom prst="roundRect">
            <a:avLst>
              <a:gd fmla="val 10345" name="adj"/>
            </a:avLst>
          </a:prstGeom>
          <a:solidFill>
            <a:srgbClr val="EAF7F0"/>
          </a:solidFill>
          <a:ln cap="flat" cmpd="sng" w="1905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502920" y="4352544"/>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Portfolio Weighted Avg</a:t>
            </a:r>
            <a:endParaRPr i="0" sz="950" u="none" cap="none" strike="noStrike">
              <a:solidFill>
                <a:schemeClr val="dk1"/>
              </a:solidFill>
              <a:latin typeface="Roboto"/>
              <a:ea typeface="Roboto"/>
              <a:cs typeface="Roboto"/>
              <a:sym typeface="Roboto"/>
            </a:endParaRPr>
          </a:p>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Fundamental Score</a:t>
            </a:r>
            <a:endParaRPr i="0" sz="950" u="none" cap="none" strike="noStrike">
              <a:solidFill>
                <a:schemeClr val="dk1"/>
              </a:solidFill>
              <a:latin typeface="Roboto"/>
              <a:ea typeface="Roboto"/>
              <a:cs typeface="Roboto"/>
              <a:sym typeface="Roboto"/>
            </a:endParaRPr>
          </a:p>
        </p:txBody>
      </p:sp>
      <p:sp>
        <p:nvSpPr>
          <p:cNvPr id="214" name="Google Shape;214;p7"/>
          <p:cNvSpPr/>
          <p:nvPr/>
        </p:nvSpPr>
        <p:spPr>
          <a:xfrm>
            <a:off x="2560320" y="4315968"/>
            <a:ext cx="182880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8B57"/>
              </a:buClr>
              <a:buSzPts val="2800"/>
              <a:buFont typeface="Cambria"/>
              <a:buNone/>
            </a:pPr>
            <a:r>
              <a:rPr b="1" i="0" lang="en-US" sz="2800" u="none" cap="none" strike="noStrike">
                <a:solidFill>
                  <a:srgbClr val="2E8B57"/>
                </a:solidFill>
                <a:latin typeface="Cambria"/>
                <a:ea typeface="Cambria"/>
                <a:cs typeface="Cambria"/>
                <a:sym typeface="Cambria"/>
              </a:rPr>
              <a:t>0.694</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8"/>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365760" y="0"/>
            <a:ext cx="7498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300" u="none" cap="none" strike="noStrike">
                <a:solidFill>
                  <a:srgbClr val="FFFFFF"/>
                </a:solidFill>
                <a:latin typeface="Tahoma"/>
                <a:ea typeface="Tahoma"/>
                <a:cs typeface="Tahoma"/>
                <a:sym typeface="Tahoma"/>
              </a:rPr>
              <a:t>INSTITUTIONAL PORTFOLIO CONSTRUCTION FRAMEWORK</a:t>
            </a:r>
            <a:endParaRPr i="0" sz="1300" u="none" cap="none" strike="noStrike">
              <a:solidFill>
                <a:schemeClr val="dk1"/>
              </a:solidFill>
              <a:latin typeface="Tahoma"/>
              <a:ea typeface="Tahoma"/>
              <a:cs typeface="Tahoma"/>
              <a:sym typeface="Tahoma"/>
            </a:endParaRPr>
          </a:p>
        </p:txBody>
      </p:sp>
      <p:sp>
        <p:nvSpPr>
          <p:cNvPr id="222" name="Google Shape;222;p8"/>
          <p:cNvSpPr/>
          <p:nvPr/>
        </p:nvSpPr>
        <p:spPr>
          <a:xfrm>
            <a:off x="7772400" y="0"/>
            <a:ext cx="109740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06</a:t>
            </a:r>
            <a:endParaRPr b="0" i="0" sz="900" u="none" cap="none" strike="noStrike">
              <a:solidFill>
                <a:schemeClr val="dk1"/>
              </a:solidFill>
              <a:latin typeface="Calibri"/>
              <a:ea typeface="Calibri"/>
              <a:cs typeface="Calibri"/>
              <a:sym typeface="Calibri"/>
            </a:endParaRPr>
          </a:p>
        </p:txBody>
      </p:sp>
      <p:sp>
        <p:nvSpPr>
          <p:cNvPr id="223" name="Google Shape;223;p8"/>
          <p:cNvSpPr/>
          <p:nvPr/>
        </p:nvSpPr>
        <p:spPr>
          <a:xfrm>
            <a:off x="365760" y="804672"/>
            <a:ext cx="841260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548640" y="822960"/>
            <a:ext cx="8046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The optimizer allocates risk before allocating capital. Mathematical constraints enforce discipline that humans cannot maintain emotionally.</a:t>
            </a:r>
            <a:endParaRPr i="0" sz="950" u="none" cap="none" strike="noStrike">
              <a:solidFill>
                <a:schemeClr val="dk1"/>
              </a:solidFill>
              <a:latin typeface="Roboto"/>
              <a:ea typeface="Roboto"/>
              <a:cs typeface="Roboto"/>
              <a:sym typeface="Roboto"/>
            </a:endParaRPr>
          </a:p>
        </p:txBody>
      </p:sp>
      <p:sp>
        <p:nvSpPr>
          <p:cNvPr id="225" name="Google Shape;225;p8"/>
          <p:cNvSpPr/>
          <p:nvPr/>
        </p:nvSpPr>
        <p:spPr>
          <a:xfrm>
            <a:off x="347472" y="1380738"/>
            <a:ext cx="4114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OPTIMIZATION ARCHITECTURE</a:t>
            </a:r>
            <a:endParaRPr i="0" sz="950" u="none" cap="none" strike="noStrike">
              <a:solidFill>
                <a:schemeClr val="dk1"/>
              </a:solidFill>
              <a:latin typeface="Roboto"/>
              <a:ea typeface="Roboto"/>
              <a:cs typeface="Roboto"/>
              <a:sym typeface="Roboto"/>
            </a:endParaRPr>
          </a:p>
        </p:txBody>
      </p:sp>
      <p:sp>
        <p:nvSpPr>
          <p:cNvPr id="226" name="Google Shape;226;p8"/>
          <p:cNvSpPr/>
          <p:nvPr/>
        </p:nvSpPr>
        <p:spPr>
          <a:xfrm>
            <a:off x="347472" y="1691640"/>
            <a:ext cx="3977700" cy="402300"/>
          </a:xfrm>
          <a:prstGeom prst="roundRect">
            <a:avLst>
              <a:gd fmla="val 11364" name="adj"/>
            </a:avLst>
          </a:prstGeom>
          <a:solidFill>
            <a:srgbClr val="1B3A6B"/>
          </a:solidFill>
          <a:ln cap="flat" cmpd="sng" w="12700">
            <a:solidFill>
              <a:srgbClr val="1B3A6B"/>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27" name="Google Shape;227;p8"/>
          <p:cNvSpPr/>
          <p:nvPr/>
        </p:nvSpPr>
        <p:spPr>
          <a:xfrm>
            <a:off x="475488" y="1691640"/>
            <a:ext cx="37491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Expected Return Vector</a:t>
            </a:r>
            <a:endParaRPr i="0" sz="950" u="none" cap="none" strike="noStrike">
              <a:solidFill>
                <a:schemeClr val="dk1"/>
              </a:solidFill>
              <a:latin typeface="Roboto"/>
              <a:ea typeface="Roboto"/>
              <a:cs typeface="Roboto"/>
              <a:sym typeface="Roboto"/>
            </a:endParaRPr>
          </a:p>
        </p:txBody>
      </p:sp>
      <p:cxnSp>
        <p:nvCxnSpPr>
          <p:cNvPr id="228" name="Google Shape;228;p8"/>
          <p:cNvCxnSpPr/>
          <p:nvPr/>
        </p:nvCxnSpPr>
        <p:spPr>
          <a:xfrm>
            <a:off x="2331720" y="2103120"/>
            <a:ext cx="0" cy="109800"/>
          </a:xfrm>
          <a:prstGeom prst="straightConnector1">
            <a:avLst/>
          </a:prstGeom>
          <a:noFill/>
          <a:ln cap="flat" cmpd="sng" w="19050">
            <a:solidFill>
              <a:srgbClr val="708090"/>
            </a:solidFill>
            <a:prstDash val="solid"/>
            <a:round/>
            <a:headEnd len="sm" w="sm" type="none"/>
            <a:tailEnd len="sm" w="sm" type="none"/>
          </a:ln>
        </p:spPr>
      </p:cxnSp>
      <p:sp>
        <p:nvSpPr>
          <p:cNvPr id="229" name="Google Shape;229;p8"/>
          <p:cNvSpPr/>
          <p:nvPr/>
        </p:nvSpPr>
        <p:spPr>
          <a:xfrm>
            <a:off x="347472" y="2221992"/>
            <a:ext cx="3977700" cy="402300"/>
          </a:xfrm>
          <a:prstGeom prst="roundRect">
            <a:avLst>
              <a:gd fmla="val 11364" name="adj"/>
            </a:avLst>
          </a:prstGeom>
          <a:solidFill>
            <a:srgbClr val="4A3080"/>
          </a:solidFill>
          <a:ln cap="flat" cmpd="sng" w="12700">
            <a:solidFill>
              <a:srgbClr val="4A3080"/>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30" name="Google Shape;230;p8"/>
          <p:cNvSpPr/>
          <p:nvPr/>
        </p:nvSpPr>
        <p:spPr>
          <a:xfrm>
            <a:off x="475488" y="2221992"/>
            <a:ext cx="37491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Risk Constraints Applied</a:t>
            </a:r>
            <a:endParaRPr i="0" sz="950" u="none" cap="none" strike="noStrike">
              <a:solidFill>
                <a:schemeClr val="dk1"/>
              </a:solidFill>
              <a:latin typeface="Roboto"/>
              <a:ea typeface="Roboto"/>
              <a:cs typeface="Roboto"/>
              <a:sym typeface="Roboto"/>
            </a:endParaRPr>
          </a:p>
        </p:txBody>
      </p:sp>
      <p:cxnSp>
        <p:nvCxnSpPr>
          <p:cNvPr id="231" name="Google Shape;231;p8"/>
          <p:cNvCxnSpPr/>
          <p:nvPr/>
        </p:nvCxnSpPr>
        <p:spPr>
          <a:xfrm>
            <a:off x="2331720" y="2633472"/>
            <a:ext cx="0" cy="109800"/>
          </a:xfrm>
          <a:prstGeom prst="straightConnector1">
            <a:avLst/>
          </a:prstGeom>
          <a:noFill/>
          <a:ln cap="flat" cmpd="sng" w="19050">
            <a:solidFill>
              <a:srgbClr val="708090"/>
            </a:solidFill>
            <a:prstDash val="solid"/>
            <a:round/>
            <a:headEnd len="sm" w="sm" type="none"/>
            <a:tailEnd len="sm" w="sm" type="none"/>
          </a:ln>
        </p:spPr>
      </p:cxnSp>
      <p:sp>
        <p:nvSpPr>
          <p:cNvPr id="232" name="Google Shape;232;p8"/>
          <p:cNvSpPr/>
          <p:nvPr/>
        </p:nvSpPr>
        <p:spPr>
          <a:xfrm>
            <a:off x="347472" y="2752344"/>
            <a:ext cx="3977700" cy="402300"/>
          </a:xfrm>
          <a:prstGeom prst="roundRect">
            <a:avLst>
              <a:gd fmla="val 11364" name="adj"/>
            </a:avLst>
          </a:prstGeom>
          <a:solidFill>
            <a:srgbClr val="2E8B57"/>
          </a:solidFill>
          <a:ln cap="flat" cmpd="sng" w="12700">
            <a:solidFill>
              <a:srgbClr val="2E8B57"/>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33" name="Google Shape;233;p8"/>
          <p:cNvSpPr/>
          <p:nvPr/>
        </p:nvSpPr>
        <p:spPr>
          <a:xfrm>
            <a:off x="475488" y="2752344"/>
            <a:ext cx="37491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SLSQP Primary Optimizer</a:t>
            </a:r>
            <a:endParaRPr i="0" sz="950" u="none" cap="none" strike="noStrike">
              <a:solidFill>
                <a:schemeClr val="dk1"/>
              </a:solidFill>
              <a:latin typeface="Roboto"/>
              <a:ea typeface="Roboto"/>
              <a:cs typeface="Roboto"/>
              <a:sym typeface="Roboto"/>
            </a:endParaRPr>
          </a:p>
        </p:txBody>
      </p:sp>
      <p:cxnSp>
        <p:nvCxnSpPr>
          <p:cNvPr id="234" name="Google Shape;234;p8"/>
          <p:cNvCxnSpPr/>
          <p:nvPr/>
        </p:nvCxnSpPr>
        <p:spPr>
          <a:xfrm>
            <a:off x="2331720" y="3163824"/>
            <a:ext cx="0" cy="109800"/>
          </a:xfrm>
          <a:prstGeom prst="straightConnector1">
            <a:avLst/>
          </a:prstGeom>
          <a:noFill/>
          <a:ln cap="flat" cmpd="sng" w="19050">
            <a:solidFill>
              <a:srgbClr val="708090"/>
            </a:solidFill>
            <a:prstDash val="solid"/>
            <a:round/>
            <a:headEnd len="sm" w="sm" type="none"/>
            <a:tailEnd len="sm" w="sm" type="none"/>
          </a:ln>
        </p:spPr>
      </p:cxnSp>
      <p:sp>
        <p:nvSpPr>
          <p:cNvPr id="235" name="Google Shape;235;p8"/>
          <p:cNvSpPr/>
          <p:nvPr/>
        </p:nvSpPr>
        <p:spPr>
          <a:xfrm>
            <a:off x="347472" y="3282696"/>
            <a:ext cx="3977700" cy="402300"/>
          </a:xfrm>
          <a:prstGeom prst="roundRect">
            <a:avLst>
              <a:gd fmla="val 11364" name="adj"/>
            </a:avLst>
          </a:prstGeom>
          <a:solidFill>
            <a:srgbClr val="1A6B42"/>
          </a:solidFill>
          <a:ln cap="flat" cmpd="sng" w="12700">
            <a:solidFill>
              <a:srgbClr val="1A6B42"/>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36" name="Google Shape;236;p8"/>
          <p:cNvSpPr/>
          <p:nvPr/>
        </p:nvSpPr>
        <p:spPr>
          <a:xfrm>
            <a:off x="475488" y="3282696"/>
            <a:ext cx="37491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Trust-Constr Fallback</a:t>
            </a:r>
            <a:endParaRPr i="0" sz="950" u="none" cap="none" strike="noStrike">
              <a:solidFill>
                <a:schemeClr val="dk1"/>
              </a:solidFill>
              <a:latin typeface="Roboto"/>
              <a:ea typeface="Roboto"/>
              <a:cs typeface="Roboto"/>
              <a:sym typeface="Roboto"/>
            </a:endParaRPr>
          </a:p>
        </p:txBody>
      </p:sp>
      <p:cxnSp>
        <p:nvCxnSpPr>
          <p:cNvPr id="237" name="Google Shape;237;p8"/>
          <p:cNvCxnSpPr/>
          <p:nvPr/>
        </p:nvCxnSpPr>
        <p:spPr>
          <a:xfrm>
            <a:off x="2331720" y="3694176"/>
            <a:ext cx="0" cy="109800"/>
          </a:xfrm>
          <a:prstGeom prst="straightConnector1">
            <a:avLst/>
          </a:prstGeom>
          <a:noFill/>
          <a:ln cap="flat" cmpd="sng" w="19050">
            <a:solidFill>
              <a:srgbClr val="708090"/>
            </a:solidFill>
            <a:prstDash val="solid"/>
            <a:round/>
            <a:headEnd len="sm" w="sm" type="none"/>
            <a:tailEnd len="sm" w="sm" type="none"/>
          </a:ln>
        </p:spPr>
      </p:cxnSp>
      <p:sp>
        <p:nvSpPr>
          <p:cNvPr id="238" name="Google Shape;238;p8"/>
          <p:cNvSpPr/>
          <p:nvPr/>
        </p:nvSpPr>
        <p:spPr>
          <a:xfrm>
            <a:off x="347472" y="3813048"/>
            <a:ext cx="3977700" cy="402300"/>
          </a:xfrm>
          <a:prstGeom prst="roundRect">
            <a:avLst>
              <a:gd fmla="val 11364" name="adj"/>
            </a:avLst>
          </a:prstGeom>
          <a:solidFill>
            <a:srgbClr val="0A192F"/>
          </a:solidFill>
          <a:ln cap="flat" cmpd="sng" w="12700">
            <a:solidFill>
              <a:srgbClr val="0A192F"/>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39" name="Google Shape;239;p8"/>
          <p:cNvSpPr/>
          <p:nvPr/>
        </p:nvSpPr>
        <p:spPr>
          <a:xfrm>
            <a:off x="475488" y="3813048"/>
            <a:ext cx="37491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950" u="none" cap="none" strike="noStrike">
                <a:solidFill>
                  <a:srgbClr val="FFFFFF"/>
                </a:solidFill>
                <a:latin typeface="Roboto"/>
                <a:ea typeface="Roboto"/>
                <a:cs typeface="Roboto"/>
                <a:sym typeface="Roboto"/>
              </a:rPr>
              <a:t>Final Capital Allocation</a:t>
            </a:r>
            <a:endParaRPr i="0" sz="950" u="none" cap="none" strike="noStrike">
              <a:solidFill>
                <a:schemeClr val="dk1"/>
              </a:solidFill>
              <a:latin typeface="Roboto"/>
              <a:ea typeface="Roboto"/>
              <a:cs typeface="Roboto"/>
              <a:sym typeface="Roboto"/>
            </a:endParaRPr>
          </a:p>
        </p:txBody>
      </p:sp>
      <p:sp>
        <p:nvSpPr>
          <p:cNvPr id="240" name="Google Shape;240;p8"/>
          <p:cNvSpPr/>
          <p:nvPr/>
        </p:nvSpPr>
        <p:spPr>
          <a:xfrm>
            <a:off x="4663440" y="1389888"/>
            <a:ext cx="4114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PORTFOLIO CONSTRAINTS</a:t>
            </a:r>
            <a:endParaRPr i="0" sz="950" u="none" cap="none" strike="noStrike">
              <a:solidFill>
                <a:schemeClr val="dk1"/>
              </a:solidFill>
              <a:latin typeface="Roboto"/>
              <a:ea typeface="Roboto"/>
              <a:cs typeface="Roboto"/>
              <a:sym typeface="Roboto"/>
            </a:endParaRPr>
          </a:p>
        </p:txBody>
      </p:sp>
      <p:sp>
        <p:nvSpPr>
          <p:cNvPr id="241" name="Google Shape;241;p8"/>
          <p:cNvSpPr/>
          <p:nvPr/>
        </p:nvSpPr>
        <p:spPr>
          <a:xfrm>
            <a:off x="4645152" y="1691640"/>
            <a:ext cx="4133100" cy="420600"/>
          </a:xfrm>
          <a:prstGeom prst="roundRect">
            <a:avLst>
              <a:gd fmla="val 10870"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42" name="Google Shape;242;p8"/>
          <p:cNvSpPr/>
          <p:nvPr/>
        </p:nvSpPr>
        <p:spPr>
          <a:xfrm>
            <a:off x="4736592" y="1728216"/>
            <a:ext cx="2286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750"/>
              <a:buFont typeface="Calibri"/>
              <a:buNone/>
            </a:pPr>
            <a:r>
              <a:rPr b="1" i="0" lang="en-US" sz="950" u="none" cap="none" strike="noStrike">
                <a:solidFill>
                  <a:srgbClr val="1B3A6B"/>
                </a:solidFill>
                <a:latin typeface="Roboto"/>
                <a:ea typeface="Roboto"/>
                <a:cs typeface="Roboto"/>
                <a:sym typeface="Roboto"/>
              </a:rPr>
              <a:t>Industry Diversification</a:t>
            </a:r>
            <a:endParaRPr i="0" sz="950" u="none" cap="none" strike="noStrike">
              <a:solidFill>
                <a:schemeClr val="dk1"/>
              </a:solidFill>
              <a:latin typeface="Roboto"/>
              <a:ea typeface="Roboto"/>
              <a:cs typeface="Roboto"/>
              <a:sym typeface="Roboto"/>
            </a:endParaRPr>
          </a:p>
        </p:txBody>
      </p:sp>
      <p:sp>
        <p:nvSpPr>
          <p:cNvPr id="243" name="Google Shape;243;p8"/>
          <p:cNvSpPr/>
          <p:nvPr/>
        </p:nvSpPr>
        <p:spPr>
          <a:xfrm>
            <a:off x="4736592" y="1892808"/>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i="0" lang="en-US" sz="950" u="none" cap="none" strike="noStrike">
                <a:solidFill>
                  <a:srgbClr val="0A192F"/>
                </a:solidFill>
                <a:latin typeface="Roboto"/>
                <a:ea typeface="Roboto"/>
                <a:cs typeface="Roboto"/>
                <a:sym typeface="Roboto"/>
              </a:rPr>
              <a:t>Max 2 securities per industry</a:t>
            </a:r>
            <a:endParaRPr i="0" sz="950" u="none" cap="none" strike="noStrike">
              <a:solidFill>
                <a:schemeClr val="dk1"/>
              </a:solidFill>
              <a:latin typeface="Roboto"/>
              <a:ea typeface="Roboto"/>
              <a:cs typeface="Roboto"/>
              <a:sym typeface="Roboto"/>
            </a:endParaRPr>
          </a:p>
        </p:txBody>
      </p:sp>
      <p:sp>
        <p:nvSpPr>
          <p:cNvPr id="244" name="Google Shape;244;p8"/>
          <p:cNvSpPr/>
          <p:nvPr/>
        </p:nvSpPr>
        <p:spPr>
          <a:xfrm>
            <a:off x="4645152" y="2231136"/>
            <a:ext cx="4133100" cy="420600"/>
          </a:xfrm>
          <a:prstGeom prst="roundRect">
            <a:avLst>
              <a:gd fmla="val 10870"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45" name="Google Shape;245;p8"/>
          <p:cNvSpPr/>
          <p:nvPr/>
        </p:nvSpPr>
        <p:spPr>
          <a:xfrm>
            <a:off x="4736592" y="2267712"/>
            <a:ext cx="2286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3080"/>
              </a:buClr>
              <a:buSzPts val="750"/>
              <a:buFont typeface="Calibri"/>
              <a:buNone/>
            </a:pPr>
            <a:r>
              <a:rPr b="1" i="0" lang="en-US" sz="950" u="none" cap="none" strike="noStrike">
                <a:solidFill>
                  <a:srgbClr val="4A3080"/>
                </a:solidFill>
                <a:latin typeface="Roboto"/>
                <a:ea typeface="Roboto"/>
                <a:cs typeface="Roboto"/>
                <a:sym typeface="Roboto"/>
              </a:rPr>
              <a:t>Concentration Limit</a:t>
            </a:r>
            <a:endParaRPr i="0" sz="950" u="none" cap="none" strike="noStrike">
              <a:solidFill>
                <a:schemeClr val="dk1"/>
              </a:solidFill>
              <a:latin typeface="Roboto"/>
              <a:ea typeface="Roboto"/>
              <a:cs typeface="Roboto"/>
              <a:sym typeface="Roboto"/>
            </a:endParaRPr>
          </a:p>
        </p:txBody>
      </p:sp>
      <p:sp>
        <p:nvSpPr>
          <p:cNvPr id="246" name="Google Shape;246;p8"/>
          <p:cNvSpPr/>
          <p:nvPr/>
        </p:nvSpPr>
        <p:spPr>
          <a:xfrm>
            <a:off x="4736592" y="2432304"/>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i="0" lang="en-US" sz="950" u="none" cap="none" strike="noStrike">
                <a:solidFill>
                  <a:srgbClr val="0A192F"/>
                </a:solidFill>
                <a:latin typeface="Roboto"/>
                <a:ea typeface="Roboto"/>
                <a:cs typeface="Roboto"/>
                <a:sym typeface="Roboto"/>
              </a:rPr>
              <a:t>11.5% maximum allocation ceiling</a:t>
            </a:r>
            <a:endParaRPr i="0" sz="950" u="none" cap="none" strike="noStrike">
              <a:solidFill>
                <a:schemeClr val="dk1"/>
              </a:solidFill>
              <a:latin typeface="Roboto"/>
              <a:ea typeface="Roboto"/>
              <a:cs typeface="Roboto"/>
              <a:sym typeface="Roboto"/>
            </a:endParaRPr>
          </a:p>
        </p:txBody>
      </p:sp>
      <p:sp>
        <p:nvSpPr>
          <p:cNvPr id="247" name="Google Shape;247;p8"/>
          <p:cNvSpPr/>
          <p:nvPr/>
        </p:nvSpPr>
        <p:spPr>
          <a:xfrm>
            <a:off x="4645152" y="2770632"/>
            <a:ext cx="4133100" cy="420600"/>
          </a:xfrm>
          <a:prstGeom prst="roundRect">
            <a:avLst>
              <a:gd fmla="val 10870"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48" name="Google Shape;248;p8"/>
          <p:cNvSpPr/>
          <p:nvPr/>
        </p:nvSpPr>
        <p:spPr>
          <a:xfrm>
            <a:off x="4736592" y="2807208"/>
            <a:ext cx="2286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4A30"/>
              </a:buClr>
              <a:buSzPts val="750"/>
              <a:buFont typeface="Calibri"/>
              <a:buNone/>
            </a:pPr>
            <a:r>
              <a:rPr b="1" i="0" lang="en-US" sz="950" u="none" cap="none" strike="noStrike">
                <a:solidFill>
                  <a:srgbClr val="1A4A30"/>
                </a:solidFill>
                <a:latin typeface="Roboto"/>
                <a:ea typeface="Roboto"/>
                <a:cs typeface="Roboto"/>
                <a:sym typeface="Roboto"/>
              </a:rPr>
              <a:t>Minimum Meaningful Weight</a:t>
            </a:r>
            <a:endParaRPr i="0" sz="950" u="none" cap="none" strike="noStrike">
              <a:solidFill>
                <a:schemeClr val="dk1"/>
              </a:solidFill>
              <a:latin typeface="Roboto"/>
              <a:ea typeface="Roboto"/>
              <a:cs typeface="Roboto"/>
              <a:sym typeface="Roboto"/>
            </a:endParaRPr>
          </a:p>
        </p:txBody>
      </p:sp>
      <p:sp>
        <p:nvSpPr>
          <p:cNvPr id="249" name="Google Shape;249;p8"/>
          <p:cNvSpPr/>
          <p:nvPr/>
        </p:nvSpPr>
        <p:spPr>
          <a:xfrm>
            <a:off x="4736592" y="2971800"/>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i="0" lang="en-US" sz="950" u="none" cap="none" strike="noStrike">
                <a:solidFill>
                  <a:srgbClr val="0A192F"/>
                </a:solidFill>
                <a:latin typeface="Roboto"/>
                <a:ea typeface="Roboto"/>
                <a:cs typeface="Roboto"/>
                <a:sym typeface="Roboto"/>
              </a:rPr>
              <a:t>2.0% minimum allocation floor</a:t>
            </a:r>
            <a:endParaRPr i="0" sz="950" u="none" cap="none" strike="noStrike">
              <a:solidFill>
                <a:schemeClr val="dk1"/>
              </a:solidFill>
              <a:latin typeface="Roboto"/>
              <a:ea typeface="Roboto"/>
              <a:cs typeface="Roboto"/>
              <a:sym typeface="Roboto"/>
            </a:endParaRPr>
          </a:p>
        </p:txBody>
      </p:sp>
      <p:sp>
        <p:nvSpPr>
          <p:cNvPr id="250" name="Google Shape;250;p8"/>
          <p:cNvSpPr/>
          <p:nvPr/>
        </p:nvSpPr>
        <p:spPr>
          <a:xfrm>
            <a:off x="4645152" y="3310128"/>
            <a:ext cx="4133100" cy="420600"/>
          </a:xfrm>
          <a:prstGeom prst="roundRect">
            <a:avLst>
              <a:gd fmla="val 10870"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51" name="Google Shape;251;p8"/>
          <p:cNvSpPr/>
          <p:nvPr/>
        </p:nvSpPr>
        <p:spPr>
          <a:xfrm>
            <a:off x="4736592" y="3346704"/>
            <a:ext cx="2286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750"/>
              <a:buFont typeface="Calibri"/>
              <a:buNone/>
            </a:pPr>
            <a:r>
              <a:rPr b="1" i="0" lang="en-US" sz="950" u="none" cap="none" strike="noStrike">
                <a:solidFill>
                  <a:srgbClr val="2E8B57"/>
                </a:solidFill>
                <a:latin typeface="Roboto"/>
                <a:ea typeface="Roboto"/>
                <a:cs typeface="Roboto"/>
                <a:sym typeface="Roboto"/>
              </a:rPr>
              <a:t>Volatility Budget</a:t>
            </a:r>
            <a:endParaRPr i="0" sz="950" u="none" cap="none" strike="noStrike">
              <a:solidFill>
                <a:schemeClr val="dk1"/>
              </a:solidFill>
              <a:latin typeface="Roboto"/>
              <a:ea typeface="Roboto"/>
              <a:cs typeface="Roboto"/>
              <a:sym typeface="Roboto"/>
            </a:endParaRPr>
          </a:p>
        </p:txBody>
      </p:sp>
      <p:sp>
        <p:nvSpPr>
          <p:cNvPr id="252" name="Google Shape;252;p8"/>
          <p:cNvSpPr/>
          <p:nvPr/>
        </p:nvSpPr>
        <p:spPr>
          <a:xfrm>
            <a:off x="4736592" y="3511296"/>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i="0" lang="en-US" sz="950" u="none" cap="none" strike="noStrike">
                <a:solidFill>
                  <a:srgbClr val="0A192F"/>
                </a:solidFill>
                <a:latin typeface="Roboto"/>
                <a:ea typeface="Roboto"/>
                <a:cs typeface="Roboto"/>
                <a:sym typeface="Roboto"/>
              </a:rPr>
              <a:t>Volatility target below 14.0%</a:t>
            </a:r>
            <a:endParaRPr i="0" sz="950" u="none" cap="none" strike="noStrike">
              <a:solidFill>
                <a:schemeClr val="dk1"/>
              </a:solidFill>
              <a:latin typeface="Roboto"/>
              <a:ea typeface="Roboto"/>
              <a:cs typeface="Roboto"/>
              <a:sym typeface="Roboto"/>
            </a:endParaRPr>
          </a:p>
        </p:txBody>
      </p:sp>
      <p:sp>
        <p:nvSpPr>
          <p:cNvPr id="253" name="Google Shape;253;p8"/>
          <p:cNvSpPr/>
          <p:nvPr/>
        </p:nvSpPr>
        <p:spPr>
          <a:xfrm>
            <a:off x="4645152" y="3849624"/>
            <a:ext cx="4133100" cy="420600"/>
          </a:xfrm>
          <a:prstGeom prst="roundRect">
            <a:avLst>
              <a:gd fmla="val 10870"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54" name="Google Shape;254;p8"/>
          <p:cNvSpPr/>
          <p:nvPr/>
        </p:nvSpPr>
        <p:spPr>
          <a:xfrm>
            <a:off x="4736592" y="3886200"/>
            <a:ext cx="2286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F50"/>
              </a:buClr>
              <a:buSzPts val="750"/>
              <a:buFont typeface="Calibri"/>
              <a:buNone/>
            </a:pPr>
            <a:r>
              <a:rPr b="1" i="0" lang="en-US" sz="950" u="none" cap="none" strike="noStrike">
                <a:solidFill>
                  <a:srgbClr val="FF7F50"/>
                </a:solidFill>
                <a:latin typeface="Roboto"/>
                <a:ea typeface="Roboto"/>
                <a:cs typeface="Roboto"/>
                <a:sym typeface="Roboto"/>
              </a:rPr>
              <a:t>Drawdown Budget</a:t>
            </a:r>
            <a:endParaRPr i="0" sz="950" u="none" cap="none" strike="noStrike">
              <a:solidFill>
                <a:schemeClr val="dk1"/>
              </a:solidFill>
              <a:latin typeface="Roboto"/>
              <a:ea typeface="Roboto"/>
              <a:cs typeface="Roboto"/>
              <a:sym typeface="Roboto"/>
            </a:endParaRPr>
          </a:p>
        </p:txBody>
      </p:sp>
      <p:sp>
        <p:nvSpPr>
          <p:cNvPr id="255" name="Google Shape;255;p8"/>
          <p:cNvSpPr/>
          <p:nvPr/>
        </p:nvSpPr>
        <p:spPr>
          <a:xfrm>
            <a:off x="4736592" y="4050792"/>
            <a:ext cx="39318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i="0" lang="en-US" sz="950" u="none" cap="none" strike="noStrike">
                <a:solidFill>
                  <a:srgbClr val="0A192F"/>
                </a:solidFill>
                <a:latin typeface="Roboto"/>
                <a:ea typeface="Roboto"/>
                <a:cs typeface="Roboto"/>
                <a:sym typeface="Roboto"/>
              </a:rPr>
              <a:t>Max drawdown target above −15%</a:t>
            </a:r>
            <a:endParaRPr i="0" sz="950" u="none" cap="none" strike="noStrike">
              <a:solidFill>
                <a:schemeClr val="dk1"/>
              </a:solidFill>
              <a:latin typeface="Roboto"/>
              <a:ea typeface="Roboto"/>
              <a:cs typeface="Roboto"/>
              <a:sym typeface="Roboto"/>
            </a:endParaRPr>
          </a:p>
        </p:txBody>
      </p:sp>
      <p:sp>
        <p:nvSpPr>
          <p:cNvPr id="256" name="Google Shape;256;p8"/>
          <p:cNvSpPr/>
          <p:nvPr/>
        </p:nvSpPr>
        <p:spPr>
          <a:xfrm>
            <a:off x="347472" y="4315968"/>
            <a:ext cx="8449200" cy="530400"/>
          </a:xfrm>
          <a:prstGeom prst="roundRect">
            <a:avLst>
              <a:gd fmla="val 10345" name="adj"/>
            </a:avLst>
          </a:prstGeom>
          <a:solidFill>
            <a:srgbClr val="F0F4F9"/>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548640" y="4352544"/>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SLSQP </a:t>
            </a:r>
            <a:r>
              <a:rPr i="0" lang="en-US" sz="950" u="none" cap="none" strike="noStrike">
                <a:solidFill>
                  <a:srgbClr val="4A5568"/>
                </a:solidFill>
                <a:latin typeface="Roboto"/>
                <a:ea typeface="Roboto"/>
                <a:cs typeface="Roboto"/>
                <a:sym typeface="Roboto"/>
              </a:rPr>
              <a:t>Primary solver — Sequential Least Squares Programming.  </a:t>
            </a:r>
            <a:r>
              <a:rPr b="1" i="0" lang="en-US" sz="950" u="none" cap="none" strike="noStrike">
                <a:solidFill>
                  <a:srgbClr val="0A192F"/>
                </a:solidFill>
                <a:latin typeface="Roboto"/>
                <a:ea typeface="Roboto"/>
                <a:cs typeface="Roboto"/>
                <a:sym typeface="Roboto"/>
              </a:rPr>
              <a:t>Trust-Constr </a:t>
            </a:r>
            <a:r>
              <a:rPr i="0" lang="en-US" sz="950" u="none" cap="none" strike="noStrike">
                <a:solidFill>
                  <a:srgbClr val="4A5568"/>
                </a:solidFill>
                <a:latin typeface="Roboto"/>
                <a:ea typeface="Roboto"/>
                <a:cs typeface="Roboto"/>
                <a:sym typeface="Roboto"/>
              </a:rPr>
              <a:t>Fallback for complex constraint convergence. Both engines ensure feasible, risk-bounded allocations.</a:t>
            </a:r>
            <a:endParaRPr i="0" sz="950" u="none" cap="none" strike="noStrike">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9"/>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365760" y="0"/>
            <a:ext cx="7498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ahoma"/>
                <a:ea typeface="Tahoma"/>
                <a:cs typeface="Tahoma"/>
                <a:sym typeface="Tahoma"/>
              </a:rPr>
              <a:t>RISK BUDGETING FRAMEWORK</a:t>
            </a:r>
            <a:endParaRPr i="0" sz="1300" u="none" cap="none" strike="noStrike">
              <a:solidFill>
                <a:schemeClr val="dk1"/>
              </a:solidFill>
              <a:latin typeface="Tahoma"/>
              <a:ea typeface="Tahoma"/>
              <a:cs typeface="Tahoma"/>
              <a:sym typeface="Tahoma"/>
            </a:endParaRPr>
          </a:p>
        </p:txBody>
      </p:sp>
      <p:sp>
        <p:nvSpPr>
          <p:cNvPr id="265" name="Google Shape;265;p9"/>
          <p:cNvSpPr/>
          <p:nvPr/>
        </p:nvSpPr>
        <p:spPr>
          <a:xfrm>
            <a:off x="7772400" y="0"/>
            <a:ext cx="109740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07</a:t>
            </a:r>
            <a:endParaRPr b="0" i="0" sz="900" u="none" cap="none" strike="noStrike">
              <a:solidFill>
                <a:schemeClr val="dk1"/>
              </a:solidFill>
              <a:latin typeface="Calibri"/>
              <a:ea typeface="Calibri"/>
              <a:cs typeface="Calibri"/>
              <a:sym typeface="Calibri"/>
            </a:endParaRPr>
          </a:p>
        </p:txBody>
      </p:sp>
      <p:sp>
        <p:nvSpPr>
          <p:cNvPr id="266" name="Google Shape;266;p9"/>
          <p:cNvSpPr/>
          <p:nvPr/>
        </p:nvSpPr>
        <p:spPr>
          <a:xfrm>
            <a:off x="365760" y="804672"/>
            <a:ext cx="841260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548640" y="822960"/>
            <a:ext cx="8046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Portfolio risk is treated as a finite resource that must be allocated intentionally — not a residual outcome of security selection.</a:t>
            </a:r>
            <a:endParaRPr i="0" sz="950" u="none" cap="none" strike="noStrike">
              <a:solidFill>
                <a:schemeClr val="dk1"/>
              </a:solidFill>
              <a:latin typeface="Roboto"/>
              <a:ea typeface="Roboto"/>
              <a:cs typeface="Roboto"/>
              <a:sym typeface="Roboto"/>
            </a:endParaRPr>
          </a:p>
        </p:txBody>
      </p:sp>
      <p:sp>
        <p:nvSpPr>
          <p:cNvPr id="268" name="Google Shape;268;p9"/>
          <p:cNvSpPr/>
          <p:nvPr/>
        </p:nvSpPr>
        <p:spPr>
          <a:xfrm>
            <a:off x="347472" y="1389888"/>
            <a:ext cx="4114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RISK BUDGET TARGETS</a:t>
            </a:r>
            <a:endParaRPr i="0" sz="950" u="none" cap="none" strike="noStrike">
              <a:solidFill>
                <a:schemeClr val="dk1"/>
              </a:solidFill>
              <a:latin typeface="Roboto"/>
              <a:ea typeface="Roboto"/>
              <a:cs typeface="Roboto"/>
              <a:sym typeface="Roboto"/>
            </a:endParaRPr>
          </a:p>
        </p:txBody>
      </p:sp>
      <p:graphicFrame>
        <p:nvGraphicFramePr>
          <p:cNvPr id="269" name="Google Shape;269;p9"/>
          <p:cNvGraphicFramePr/>
          <p:nvPr/>
        </p:nvGraphicFramePr>
        <p:xfrm>
          <a:off x="347472" y="1691640"/>
          <a:ext cx="3000000" cy="3000000"/>
        </p:xfrm>
        <a:graphic>
          <a:graphicData uri="http://schemas.openxmlformats.org/drawingml/2006/table">
            <a:tbl>
              <a:tblPr>
                <a:noFill/>
                <a:tableStyleId>{098A27E6-43D6-4C41-B81A-627181AE2184}</a:tableStyleId>
              </a:tblPr>
              <a:tblGrid>
                <a:gridCol w="1463050"/>
                <a:gridCol w="914400"/>
                <a:gridCol w="914400"/>
                <a:gridCol w="914400"/>
              </a:tblGrid>
              <a:tr h="381000">
                <a:tc>
                  <a:txBody>
                    <a:bodyPr/>
                    <a:lstStyle/>
                    <a:p>
                      <a:pPr indent="0" lvl="0" marL="0" marR="0" rtl="0" algn="l">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Risk Metric</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Budget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Achieved</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950" u="none" cap="none" strike="noStrike">
                          <a:solidFill>
                            <a:srgbClr val="FFFFFF"/>
                          </a:solidFill>
                          <a:latin typeface="Roboto"/>
                          <a:ea typeface="Roboto"/>
                          <a:cs typeface="Roboto"/>
                          <a:sym typeface="Roboto"/>
                        </a:rPr>
                        <a:t>Utilization</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r>
              <a:tr h="381000">
                <a:tc>
                  <a:txBody>
                    <a:bodyPr/>
                    <a:lstStyle/>
                    <a:p>
                      <a:pPr indent="0" lvl="0" marL="0" marR="0" rtl="0" algn="l">
                        <a:spcBef>
                          <a:spcPts val="0"/>
                        </a:spcBef>
                        <a:spcAft>
                          <a:spcPts val="0"/>
                        </a:spcAft>
                        <a:buClr>
                          <a:srgbClr val="0A192F"/>
                        </a:buClr>
                        <a:buSzPts val="950"/>
                        <a:buFont typeface="Calibri"/>
                        <a:buNone/>
                      </a:pPr>
                      <a:r>
                        <a:rPr lang="en-US" sz="950" u="none" cap="none" strike="noStrike">
                          <a:solidFill>
                            <a:srgbClr val="0A192F"/>
                          </a:solidFill>
                          <a:latin typeface="Roboto"/>
                          <a:ea typeface="Roboto"/>
                          <a:cs typeface="Roboto"/>
                          <a:sym typeface="Roboto"/>
                        </a:rPr>
                        <a:t>Volatility</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&lt; 14.0%</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13.30%</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950"/>
                        <a:buFont typeface="Calibri"/>
                        <a:buNone/>
                      </a:pPr>
                      <a:r>
                        <a:rPr lang="en-US" sz="950" u="none" cap="none" strike="noStrike">
                          <a:solidFill>
                            <a:srgbClr val="2E8B57"/>
                          </a:solidFill>
                          <a:latin typeface="Roboto"/>
                          <a:ea typeface="Roboto"/>
                          <a:cs typeface="Roboto"/>
                          <a:sym typeface="Roboto"/>
                        </a:rPr>
                        <a:t>95%</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381000">
                <a:tc>
                  <a:txBody>
                    <a:bodyPr/>
                    <a:lstStyle/>
                    <a:p>
                      <a:pPr indent="0" lvl="0" marL="0" marR="0" rtl="0" algn="l">
                        <a:spcBef>
                          <a:spcPts val="0"/>
                        </a:spcBef>
                        <a:spcAft>
                          <a:spcPts val="0"/>
                        </a:spcAft>
                        <a:buClr>
                          <a:srgbClr val="0A192F"/>
                        </a:buClr>
                        <a:buSzPts val="950"/>
                        <a:buFont typeface="Calibri"/>
                        <a:buNone/>
                      </a:pPr>
                      <a:r>
                        <a:rPr lang="en-US" sz="950" u="none" cap="none" strike="noStrike">
                          <a:solidFill>
                            <a:srgbClr val="0A192F"/>
                          </a:solidFill>
                          <a:latin typeface="Roboto"/>
                          <a:ea typeface="Roboto"/>
                          <a:cs typeface="Roboto"/>
                          <a:sym typeface="Roboto"/>
                        </a:rPr>
                        <a:t>Max Drawdown</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&gt; −15.0%</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−14.31%</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950"/>
                        <a:buFont typeface="Calibri"/>
                        <a:buNone/>
                      </a:pPr>
                      <a:r>
                        <a:rPr lang="en-US" sz="950" u="none" cap="none" strike="noStrike">
                          <a:solidFill>
                            <a:srgbClr val="2E8B57"/>
                          </a:solidFill>
                          <a:latin typeface="Roboto"/>
                          <a:ea typeface="Roboto"/>
                          <a:cs typeface="Roboto"/>
                          <a:sym typeface="Roboto"/>
                        </a:rPr>
                        <a:t>95%</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381000">
                <a:tc>
                  <a:txBody>
                    <a:bodyPr/>
                    <a:lstStyle/>
                    <a:p>
                      <a:pPr indent="0" lvl="0" marL="0" marR="0" rtl="0" algn="l">
                        <a:spcBef>
                          <a:spcPts val="0"/>
                        </a:spcBef>
                        <a:spcAft>
                          <a:spcPts val="0"/>
                        </a:spcAft>
                        <a:buClr>
                          <a:srgbClr val="0A192F"/>
                        </a:buClr>
                        <a:buSzPts val="950"/>
                        <a:buFont typeface="Calibri"/>
                        <a:buNone/>
                      </a:pPr>
                      <a:r>
                        <a:rPr lang="en-US" sz="950" u="none" cap="none" strike="noStrike">
                          <a:solidFill>
                            <a:srgbClr val="0A192F"/>
                          </a:solidFill>
                          <a:latin typeface="Roboto"/>
                          <a:ea typeface="Roboto"/>
                          <a:cs typeface="Roboto"/>
                          <a:sym typeface="Roboto"/>
                        </a:rPr>
                        <a:t>Portfolio Beta</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0.85–0.95</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0.830</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C8800"/>
                        </a:buClr>
                        <a:buSzPts val="950"/>
                        <a:buFont typeface="Calibri"/>
                        <a:buNone/>
                      </a:pPr>
                      <a:r>
                        <a:rPr lang="en-US" sz="950" u="none" cap="none" strike="noStrike">
                          <a:solidFill>
                            <a:srgbClr val="CC8800"/>
                          </a:solidFill>
                          <a:latin typeface="Roboto"/>
                          <a:ea typeface="Roboto"/>
                          <a:cs typeface="Roboto"/>
                          <a:sym typeface="Roboto"/>
                        </a:rPr>
                        <a:t>Trade-off</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381000">
                <a:tc>
                  <a:txBody>
                    <a:bodyPr/>
                    <a:lstStyle/>
                    <a:p>
                      <a:pPr indent="0" lvl="0" marL="0" marR="0" rtl="0" algn="l">
                        <a:spcBef>
                          <a:spcPts val="0"/>
                        </a:spcBef>
                        <a:spcAft>
                          <a:spcPts val="0"/>
                        </a:spcAft>
                        <a:buClr>
                          <a:srgbClr val="0A192F"/>
                        </a:buClr>
                        <a:buSzPts val="950"/>
                        <a:buFont typeface="Calibri"/>
                        <a:buNone/>
                      </a:pPr>
                      <a:r>
                        <a:rPr lang="en-US" sz="950" u="none" cap="none" strike="noStrike">
                          <a:solidFill>
                            <a:srgbClr val="0A192F"/>
                          </a:solidFill>
                          <a:latin typeface="Roboto"/>
                          <a:ea typeface="Roboto"/>
                          <a:cs typeface="Roboto"/>
                          <a:sym typeface="Roboto"/>
                        </a:rPr>
                        <a:t>Concentration</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Max 11.5%</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Controlled</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950"/>
                        <a:buFont typeface="Calibri"/>
                        <a:buNone/>
                      </a:pPr>
                      <a:r>
                        <a:rPr lang="en-US" sz="950" u="none" cap="none" strike="noStrike">
                          <a:solidFill>
                            <a:srgbClr val="2E8B57"/>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381000">
                <a:tc>
                  <a:txBody>
                    <a:bodyPr/>
                    <a:lstStyle/>
                    <a:p>
                      <a:pPr indent="0" lvl="0" marL="0" marR="0" rtl="0" algn="l">
                        <a:spcBef>
                          <a:spcPts val="0"/>
                        </a:spcBef>
                        <a:spcAft>
                          <a:spcPts val="0"/>
                        </a:spcAft>
                        <a:buClr>
                          <a:srgbClr val="0A192F"/>
                        </a:buClr>
                        <a:buSzPts val="950"/>
                        <a:buFont typeface="Calibri"/>
                        <a:buNone/>
                      </a:pPr>
                      <a:r>
                        <a:rPr lang="en-US" sz="950" u="none" cap="none" strike="noStrike">
                          <a:solidFill>
                            <a:srgbClr val="0A192F"/>
                          </a:solidFill>
                          <a:latin typeface="Roboto"/>
                          <a:ea typeface="Roboto"/>
                          <a:cs typeface="Roboto"/>
                          <a:sym typeface="Roboto"/>
                        </a:rPr>
                        <a:t>Industry Exp.</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Max 2/sector</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950"/>
                        <a:buFont typeface="Calibri"/>
                        <a:buNone/>
                      </a:pPr>
                      <a:r>
                        <a:rPr lang="en-US" sz="950" u="none" cap="none" strike="noStrike">
                          <a:solidFill>
                            <a:srgbClr val="4A5568"/>
                          </a:solidFill>
                          <a:latin typeface="Roboto"/>
                          <a:ea typeface="Roboto"/>
                          <a:cs typeface="Roboto"/>
                          <a:sym typeface="Roboto"/>
                        </a:rPr>
                        <a:t>Achieved</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950"/>
                        <a:buFont typeface="Calibri"/>
                        <a:buNone/>
                      </a:pPr>
                      <a:r>
                        <a:rPr lang="en-US" sz="950" u="none" cap="none" strike="noStrike">
                          <a:solidFill>
                            <a:srgbClr val="2E8B57"/>
                          </a:solidFill>
                          <a:latin typeface="Roboto"/>
                          <a:ea typeface="Roboto"/>
                          <a:cs typeface="Roboto"/>
                          <a:sym typeface="Roboto"/>
                        </a:rPr>
                        <a:t>✅</a:t>
                      </a:r>
                      <a:endParaRPr sz="9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bl>
          </a:graphicData>
        </a:graphic>
      </p:graphicFrame>
      <p:sp>
        <p:nvSpPr>
          <p:cNvPr id="270" name="Google Shape;270;p9"/>
          <p:cNvSpPr/>
          <p:nvPr/>
        </p:nvSpPr>
        <p:spPr>
          <a:xfrm>
            <a:off x="5029200" y="1389888"/>
            <a:ext cx="3749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BUDGET UTILIZATION</a:t>
            </a:r>
            <a:endParaRPr i="0" sz="950" u="none" cap="none" strike="noStrike">
              <a:solidFill>
                <a:schemeClr val="dk1"/>
              </a:solidFill>
              <a:latin typeface="Roboto"/>
              <a:ea typeface="Roboto"/>
              <a:cs typeface="Roboto"/>
              <a:sym typeface="Roboto"/>
            </a:endParaRPr>
          </a:p>
        </p:txBody>
      </p:sp>
      <p:sp>
        <p:nvSpPr>
          <p:cNvPr id="271" name="Google Shape;271;p9"/>
          <p:cNvSpPr/>
          <p:nvPr/>
        </p:nvSpPr>
        <p:spPr>
          <a:xfrm>
            <a:off x="5029200" y="1719072"/>
            <a:ext cx="3200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50"/>
              <a:buFont typeface="Calibri"/>
              <a:buNone/>
            </a:pPr>
            <a:r>
              <a:rPr b="1" i="0" lang="en-US" sz="950" u="none" cap="none" strike="noStrike">
                <a:solidFill>
                  <a:srgbClr val="0A192F"/>
                </a:solidFill>
                <a:latin typeface="Roboto"/>
                <a:ea typeface="Roboto"/>
                <a:cs typeface="Roboto"/>
                <a:sym typeface="Roboto"/>
              </a:rPr>
              <a:t>Volatility Budget</a:t>
            </a:r>
            <a:endParaRPr i="0" sz="950" u="none" cap="none" strike="noStrike">
              <a:solidFill>
                <a:schemeClr val="dk1"/>
              </a:solidFill>
              <a:latin typeface="Roboto"/>
              <a:ea typeface="Roboto"/>
              <a:cs typeface="Roboto"/>
              <a:sym typeface="Roboto"/>
            </a:endParaRPr>
          </a:p>
        </p:txBody>
      </p:sp>
      <p:sp>
        <p:nvSpPr>
          <p:cNvPr id="272" name="Google Shape;272;p9"/>
          <p:cNvSpPr/>
          <p:nvPr/>
        </p:nvSpPr>
        <p:spPr>
          <a:xfrm>
            <a:off x="5029200" y="1975104"/>
            <a:ext cx="3749100" cy="255900"/>
          </a:xfrm>
          <a:prstGeom prst="roundRect">
            <a:avLst>
              <a:gd fmla="val 14286" name="adj"/>
            </a:avLst>
          </a:prstGeom>
          <a:solidFill>
            <a:srgbClr val="E8EDF2"/>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73" name="Google Shape;273;p9"/>
          <p:cNvSpPr/>
          <p:nvPr/>
        </p:nvSpPr>
        <p:spPr>
          <a:xfrm>
            <a:off x="5029200" y="1975104"/>
            <a:ext cx="3561600" cy="255900"/>
          </a:xfrm>
          <a:prstGeom prst="roundRect">
            <a:avLst>
              <a:gd fmla="val 14286"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74" name="Google Shape;274;p9"/>
          <p:cNvSpPr/>
          <p:nvPr/>
        </p:nvSpPr>
        <p:spPr>
          <a:xfrm>
            <a:off x="5029200" y="2267712"/>
            <a:ext cx="3749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850"/>
              <a:buFont typeface="Calibri"/>
              <a:buNone/>
            </a:pPr>
            <a:r>
              <a:rPr i="0" lang="en-US" sz="950" u="none" cap="none" strike="noStrike">
                <a:solidFill>
                  <a:srgbClr val="2E8B57"/>
                </a:solidFill>
                <a:latin typeface="Roboto"/>
                <a:ea typeface="Roboto"/>
                <a:cs typeface="Roboto"/>
                <a:sym typeface="Roboto"/>
              </a:rPr>
              <a:t>13.30% / 14.00%  →  95% utilized</a:t>
            </a:r>
            <a:endParaRPr i="0" sz="950" u="none" cap="none" strike="noStrike">
              <a:solidFill>
                <a:schemeClr val="dk1"/>
              </a:solidFill>
              <a:latin typeface="Roboto"/>
              <a:ea typeface="Roboto"/>
              <a:cs typeface="Roboto"/>
              <a:sym typeface="Roboto"/>
            </a:endParaRPr>
          </a:p>
        </p:txBody>
      </p:sp>
      <p:sp>
        <p:nvSpPr>
          <p:cNvPr id="275" name="Google Shape;275;p9"/>
          <p:cNvSpPr/>
          <p:nvPr/>
        </p:nvSpPr>
        <p:spPr>
          <a:xfrm>
            <a:off x="5029200" y="2514600"/>
            <a:ext cx="3200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50"/>
              <a:buFont typeface="Calibri"/>
              <a:buNone/>
            </a:pPr>
            <a:r>
              <a:rPr b="1" i="0" lang="en-US" sz="950" u="none" cap="none" strike="noStrike">
                <a:solidFill>
                  <a:srgbClr val="0A192F"/>
                </a:solidFill>
                <a:latin typeface="Roboto"/>
                <a:ea typeface="Roboto"/>
                <a:cs typeface="Roboto"/>
                <a:sym typeface="Roboto"/>
              </a:rPr>
              <a:t>Drawdown Budget</a:t>
            </a:r>
            <a:endParaRPr i="0" sz="950" u="none" cap="none" strike="noStrike">
              <a:solidFill>
                <a:schemeClr val="dk1"/>
              </a:solidFill>
              <a:latin typeface="Roboto"/>
              <a:ea typeface="Roboto"/>
              <a:cs typeface="Roboto"/>
              <a:sym typeface="Roboto"/>
            </a:endParaRPr>
          </a:p>
        </p:txBody>
      </p:sp>
      <p:sp>
        <p:nvSpPr>
          <p:cNvPr id="276" name="Google Shape;276;p9"/>
          <p:cNvSpPr/>
          <p:nvPr/>
        </p:nvSpPr>
        <p:spPr>
          <a:xfrm>
            <a:off x="5029200" y="2770632"/>
            <a:ext cx="3749100" cy="255900"/>
          </a:xfrm>
          <a:prstGeom prst="roundRect">
            <a:avLst>
              <a:gd fmla="val 14286" name="adj"/>
            </a:avLst>
          </a:prstGeom>
          <a:solidFill>
            <a:srgbClr val="E8EDF2"/>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77" name="Google Shape;277;p9"/>
          <p:cNvSpPr/>
          <p:nvPr/>
        </p:nvSpPr>
        <p:spPr>
          <a:xfrm>
            <a:off x="5029200" y="2770632"/>
            <a:ext cx="3576600" cy="255900"/>
          </a:xfrm>
          <a:prstGeom prst="roundRect">
            <a:avLst>
              <a:gd fmla="val 14286" name="adj"/>
            </a:avLst>
          </a:prstGeom>
          <a:solidFill>
            <a:srgbClr val="FF7F50"/>
          </a:solidFill>
          <a:ln cap="flat" cmpd="sng" w="12700">
            <a:solidFill>
              <a:srgbClr val="FF7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78" name="Google Shape;278;p9"/>
          <p:cNvSpPr/>
          <p:nvPr/>
        </p:nvSpPr>
        <p:spPr>
          <a:xfrm>
            <a:off x="5029200" y="3063240"/>
            <a:ext cx="3749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F50"/>
              </a:buClr>
              <a:buSzPts val="850"/>
              <a:buFont typeface="Calibri"/>
              <a:buNone/>
            </a:pPr>
            <a:r>
              <a:rPr i="0" lang="en-US" sz="950" u="none" cap="none" strike="noStrike">
                <a:solidFill>
                  <a:srgbClr val="FF7F50"/>
                </a:solidFill>
                <a:latin typeface="Roboto"/>
                <a:ea typeface="Roboto"/>
                <a:cs typeface="Roboto"/>
                <a:sym typeface="Roboto"/>
              </a:rPr>
              <a:t>−14.31% / −15.00%  →  95% utilized</a:t>
            </a:r>
            <a:endParaRPr i="0" sz="950" u="none" cap="none" strike="noStrike">
              <a:solidFill>
                <a:schemeClr val="dk1"/>
              </a:solidFill>
              <a:latin typeface="Roboto"/>
              <a:ea typeface="Roboto"/>
              <a:cs typeface="Roboto"/>
              <a:sym typeface="Roboto"/>
            </a:endParaRPr>
          </a:p>
        </p:txBody>
      </p:sp>
      <p:sp>
        <p:nvSpPr>
          <p:cNvPr id="279" name="Google Shape;279;p9"/>
          <p:cNvSpPr/>
          <p:nvPr/>
        </p:nvSpPr>
        <p:spPr>
          <a:xfrm>
            <a:off x="5029200" y="3337560"/>
            <a:ext cx="3749100" cy="658500"/>
          </a:xfrm>
          <a:prstGeom prst="roundRect">
            <a:avLst>
              <a:gd fmla="val 8333"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80" name="Google Shape;280;p9"/>
          <p:cNvSpPr/>
          <p:nvPr/>
        </p:nvSpPr>
        <p:spPr>
          <a:xfrm>
            <a:off x="5166360" y="3383280"/>
            <a:ext cx="3474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50"/>
              <a:buFont typeface="Calibri"/>
              <a:buNone/>
            </a:pPr>
            <a:r>
              <a:rPr b="1" i="0" lang="en-US" sz="950" u="none" cap="none" strike="noStrike">
                <a:solidFill>
                  <a:srgbClr val="0A192F"/>
                </a:solidFill>
                <a:latin typeface="Roboto"/>
                <a:ea typeface="Roboto"/>
                <a:cs typeface="Roboto"/>
                <a:sym typeface="Roboto"/>
              </a:rPr>
              <a:t>KEY INTERPRETATION</a:t>
            </a:r>
            <a:endParaRPr i="0" sz="950" u="none" cap="none" strike="noStrike">
              <a:solidFill>
                <a:schemeClr val="dk1"/>
              </a:solidFill>
              <a:latin typeface="Roboto"/>
              <a:ea typeface="Roboto"/>
              <a:cs typeface="Roboto"/>
              <a:sym typeface="Roboto"/>
            </a:endParaRPr>
          </a:p>
        </p:txBody>
      </p:sp>
      <p:sp>
        <p:nvSpPr>
          <p:cNvPr id="281" name="Google Shape;281;p9"/>
          <p:cNvSpPr/>
          <p:nvPr/>
        </p:nvSpPr>
        <p:spPr>
          <a:xfrm>
            <a:off x="5166360" y="3566160"/>
            <a:ext cx="34746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The optimizer intentionally utilized 95% of both risk budgets — extracting maximum return within defined boundaries without breaching any limit.</a:t>
            </a:r>
            <a:endParaRPr i="0" sz="950" u="none" cap="none" strike="noStrike">
              <a:solidFill>
                <a:schemeClr val="dk1"/>
              </a:solidFill>
              <a:latin typeface="Roboto"/>
              <a:ea typeface="Roboto"/>
              <a:cs typeface="Roboto"/>
              <a:sym typeface="Roboto"/>
            </a:endParaRPr>
          </a:p>
        </p:txBody>
      </p:sp>
      <p:sp>
        <p:nvSpPr>
          <p:cNvPr id="282" name="Google Shape;282;p9"/>
          <p:cNvSpPr/>
          <p:nvPr/>
        </p:nvSpPr>
        <p:spPr>
          <a:xfrm>
            <a:off x="347472" y="4315968"/>
            <a:ext cx="8449200" cy="530400"/>
          </a:xfrm>
          <a:prstGeom prst="roundRect">
            <a:avLst>
              <a:gd fmla="val 10345" name="adj"/>
            </a:avLst>
          </a:prstGeom>
          <a:solidFill>
            <a:srgbClr val="F0F4F9"/>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a:off x="548640" y="4352544"/>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Risk budgeting converts qualitative investment policy statements into quantitative constraints. The optimizer treats risk as a scarce resource — allocating it deliberately, not accidentally.</a:t>
            </a:r>
            <a:endParaRPr sz="950" u="none" cap="none" strike="noStrike">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10"/>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365760" y="0"/>
            <a:ext cx="7498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ahoma"/>
                <a:ea typeface="Tahoma"/>
                <a:cs typeface="Tahoma"/>
                <a:sym typeface="Tahoma"/>
              </a:rPr>
              <a:t>CAPITAL PRESERVATION AS A FIRST PRINCIPLE</a:t>
            </a:r>
            <a:endParaRPr i="0" sz="1300" u="none" cap="none" strike="noStrike">
              <a:solidFill>
                <a:schemeClr val="dk1"/>
              </a:solidFill>
              <a:latin typeface="Tahoma"/>
              <a:ea typeface="Tahoma"/>
              <a:cs typeface="Tahoma"/>
              <a:sym typeface="Tahoma"/>
            </a:endParaRPr>
          </a:p>
        </p:txBody>
      </p:sp>
      <p:sp>
        <p:nvSpPr>
          <p:cNvPr id="291" name="Google Shape;291;p10"/>
          <p:cNvSpPr/>
          <p:nvPr/>
        </p:nvSpPr>
        <p:spPr>
          <a:xfrm>
            <a:off x="7772400" y="0"/>
            <a:ext cx="109740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08</a:t>
            </a:r>
            <a:endParaRPr b="0" i="0" sz="900" u="none" cap="none" strike="noStrike">
              <a:solidFill>
                <a:schemeClr val="dk1"/>
              </a:solidFill>
              <a:latin typeface="Calibri"/>
              <a:ea typeface="Calibri"/>
              <a:cs typeface="Calibri"/>
              <a:sym typeface="Calibri"/>
            </a:endParaRPr>
          </a:p>
        </p:txBody>
      </p:sp>
      <p:sp>
        <p:nvSpPr>
          <p:cNvPr id="292" name="Google Shape;292;p10"/>
          <p:cNvSpPr/>
          <p:nvPr/>
        </p:nvSpPr>
        <p:spPr>
          <a:xfrm>
            <a:off x="365760" y="804672"/>
            <a:ext cx="841260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548640" y="822960"/>
            <a:ext cx="80466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Avoiding severe capital impairment is prioritized over maximizing market exposure. Lower Beta was a deliberate outcome of the capital preservation mandate.</a:t>
            </a:r>
            <a:endParaRPr i="0" sz="950" u="none" cap="none" strike="noStrike">
              <a:solidFill>
                <a:schemeClr val="dk1"/>
              </a:solidFill>
              <a:latin typeface="Roboto"/>
              <a:ea typeface="Roboto"/>
              <a:cs typeface="Roboto"/>
              <a:sym typeface="Roboto"/>
            </a:endParaRPr>
          </a:p>
        </p:txBody>
      </p:sp>
      <p:sp>
        <p:nvSpPr>
          <p:cNvPr id="294" name="Google Shape;294;p10"/>
          <p:cNvSpPr/>
          <p:nvPr/>
        </p:nvSpPr>
        <p:spPr>
          <a:xfrm>
            <a:off x="347472" y="1389888"/>
            <a:ext cx="1417200" cy="804600"/>
          </a:xfrm>
          <a:prstGeom prst="roundRect">
            <a:avLst>
              <a:gd fmla="val 6818"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95" name="Google Shape;295;p10"/>
          <p:cNvSpPr/>
          <p:nvPr/>
        </p:nvSpPr>
        <p:spPr>
          <a:xfrm>
            <a:off x="402336" y="1463040"/>
            <a:ext cx="13077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7F50"/>
              </a:buClr>
              <a:buSzPts val="1600"/>
              <a:buFont typeface="Cambria"/>
              <a:buNone/>
            </a:pPr>
            <a:r>
              <a:rPr b="1" i="0" lang="en-US" sz="950" u="none" cap="none" strike="noStrike">
                <a:solidFill>
                  <a:srgbClr val="FF7F50"/>
                </a:solidFill>
                <a:latin typeface="Roboto"/>
                <a:ea typeface="Roboto"/>
                <a:cs typeface="Roboto"/>
                <a:sym typeface="Roboto"/>
              </a:rPr>
              <a:t>−14.31%</a:t>
            </a:r>
            <a:endParaRPr i="0" sz="950" u="none" cap="none" strike="noStrike">
              <a:solidFill>
                <a:schemeClr val="dk1"/>
              </a:solidFill>
              <a:latin typeface="Roboto"/>
              <a:ea typeface="Roboto"/>
              <a:cs typeface="Roboto"/>
              <a:sym typeface="Roboto"/>
            </a:endParaRPr>
          </a:p>
        </p:txBody>
      </p:sp>
      <p:sp>
        <p:nvSpPr>
          <p:cNvPr id="296" name="Google Shape;296;p10"/>
          <p:cNvSpPr/>
          <p:nvPr/>
        </p:nvSpPr>
        <p:spPr>
          <a:xfrm>
            <a:off x="402336" y="1847088"/>
            <a:ext cx="1307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92F"/>
              </a:buClr>
              <a:buSzPts val="750"/>
              <a:buFont typeface="Calibri"/>
              <a:buNone/>
            </a:pPr>
            <a:r>
              <a:rPr b="1" i="0" lang="en-US" sz="950" u="none" cap="none" strike="noStrike">
                <a:solidFill>
                  <a:srgbClr val="0A192F"/>
                </a:solidFill>
                <a:latin typeface="Roboto"/>
                <a:ea typeface="Roboto"/>
                <a:cs typeface="Roboto"/>
                <a:sym typeface="Roboto"/>
              </a:rPr>
              <a:t>Max Drawdown</a:t>
            </a:r>
            <a:endParaRPr i="0" sz="950" u="none" cap="none" strike="noStrike">
              <a:solidFill>
                <a:schemeClr val="dk1"/>
              </a:solidFill>
              <a:latin typeface="Roboto"/>
              <a:ea typeface="Roboto"/>
              <a:cs typeface="Roboto"/>
              <a:sym typeface="Roboto"/>
            </a:endParaRPr>
          </a:p>
        </p:txBody>
      </p:sp>
      <p:sp>
        <p:nvSpPr>
          <p:cNvPr id="297" name="Google Shape;297;p10"/>
          <p:cNvSpPr/>
          <p:nvPr/>
        </p:nvSpPr>
        <p:spPr>
          <a:xfrm>
            <a:off x="1901952" y="1389888"/>
            <a:ext cx="1417200" cy="804600"/>
          </a:xfrm>
          <a:prstGeom prst="roundRect">
            <a:avLst>
              <a:gd fmla="val 6818"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298" name="Google Shape;298;p10"/>
          <p:cNvSpPr/>
          <p:nvPr/>
        </p:nvSpPr>
        <p:spPr>
          <a:xfrm>
            <a:off x="1956816" y="1463040"/>
            <a:ext cx="13077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3A6B"/>
              </a:buClr>
              <a:buSzPts val="1600"/>
              <a:buFont typeface="Cambria"/>
              <a:buNone/>
            </a:pPr>
            <a:r>
              <a:rPr b="1" i="0" lang="en-US" sz="950" u="none" cap="none" strike="noStrike">
                <a:solidFill>
                  <a:srgbClr val="1B3A6B"/>
                </a:solidFill>
                <a:latin typeface="Roboto"/>
                <a:ea typeface="Roboto"/>
                <a:cs typeface="Roboto"/>
                <a:sym typeface="Roboto"/>
              </a:rPr>
              <a:t>−1.34%</a:t>
            </a:r>
            <a:endParaRPr i="0" sz="950" u="none" cap="none" strike="noStrike">
              <a:solidFill>
                <a:schemeClr val="dk1"/>
              </a:solidFill>
              <a:latin typeface="Roboto"/>
              <a:ea typeface="Roboto"/>
              <a:cs typeface="Roboto"/>
              <a:sym typeface="Roboto"/>
            </a:endParaRPr>
          </a:p>
        </p:txBody>
      </p:sp>
      <p:sp>
        <p:nvSpPr>
          <p:cNvPr id="299" name="Google Shape;299;p10"/>
          <p:cNvSpPr/>
          <p:nvPr/>
        </p:nvSpPr>
        <p:spPr>
          <a:xfrm>
            <a:off x="1956816" y="1847088"/>
            <a:ext cx="1307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92F"/>
              </a:buClr>
              <a:buSzPts val="750"/>
              <a:buFont typeface="Calibri"/>
              <a:buNone/>
            </a:pPr>
            <a:r>
              <a:rPr b="1" i="0" lang="en-US" sz="950" u="none" cap="none" strike="noStrike">
                <a:solidFill>
                  <a:srgbClr val="0A192F"/>
                </a:solidFill>
                <a:latin typeface="Roboto"/>
                <a:ea typeface="Roboto"/>
                <a:cs typeface="Roboto"/>
                <a:sym typeface="Roboto"/>
              </a:rPr>
              <a:t>Daily VaR (95%) [A7]</a:t>
            </a:r>
            <a:endParaRPr i="0" sz="950" u="none" cap="none" strike="noStrike">
              <a:solidFill>
                <a:schemeClr val="dk1"/>
              </a:solidFill>
              <a:latin typeface="Roboto"/>
              <a:ea typeface="Roboto"/>
              <a:cs typeface="Roboto"/>
              <a:sym typeface="Roboto"/>
            </a:endParaRPr>
          </a:p>
        </p:txBody>
      </p:sp>
      <p:sp>
        <p:nvSpPr>
          <p:cNvPr id="300" name="Google Shape;300;p10"/>
          <p:cNvSpPr/>
          <p:nvPr/>
        </p:nvSpPr>
        <p:spPr>
          <a:xfrm>
            <a:off x="3456432" y="1389888"/>
            <a:ext cx="1417200" cy="804600"/>
          </a:xfrm>
          <a:prstGeom prst="roundRect">
            <a:avLst>
              <a:gd fmla="val 6818"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01" name="Google Shape;301;p10"/>
          <p:cNvSpPr/>
          <p:nvPr/>
        </p:nvSpPr>
        <p:spPr>
          <a:xfrm>
            <a:off x="3511296" y="1463040"/>
            <a:ext cx="13077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92F"/>
              </a:buClr>
              <a:buSzPts val="1600"/>
              <a:buFont typeface="Cambria"/>
              <a:buNone/>
            </a:pPr>
            <a:r>
              <a:rPr b="1" i="0" lang="en-US" sz="950" u="none" cap="none" strike="noStrike">
                <a:solidFill>
                  <a:srgbClr val="0A192F"/>
                </a:solidFill>
                <a:latin typeface="Roboto"/>
                <a:ea typeface="Roboto"/>
                <a:cs typeface="Roboto"/>
                <a:sym typeface="Roboto"/>
              </a:rPr>
              <a:t>13.30%</a:t>
            </a:r>
            <a:endParaRPr i="0" sz="950" u="none" cap="none" strike="noStrike">
              <a:solidFill>
                <a:schemeClr val="dk1"/>
              </a:solidFill>
              <a:latin typeface="Roboto"/>
              <a:ea typeface="Roboto"/>
              <a:cs typeface="Roboto"/>
              <a:sym typeface="Roboto"/>
            </a:endParaRPr>
          </a:p>
        </p:txBody>
      </p:sp>
      <p:sp>
        <p:nvSpPr>
          <p:cNvPr id="302" name="Google Shape;302;p10"/>
          <p:cNvSpPr/>
          <p:nvPr/>
        </p:nvSpPr>
        <p:spPr>
          <a:xfrm>
            <a:off x="3511296" y="1847088"/>
            <a:ext cx="1307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192F"/>
              </a:buClr>
              <a:buSzPts val="750"/>
              <a:buFont typeface="Calibri"/>
              <a:buNone/>
            </a:pPr>
            <a:r>
              <a:rPr b="1" i="0" lang="en-US" sz="950" u="none" cap="none" strike="noStrike">
                <a:solidFill>
                  <a:srgbClr val="0A192F"/>
                </a:solidFill>
                <a:latin typeface="Roboto"/>
                <a:ea typeface="Roboto"/>
                <a:cs typeface="Roboto"/>
                <a:sym typeface="Roboto"/>
              </a:rPr>
              <a:t>Portfolio Volatility</a:t>
            </a:r>
            <a:endParaRPr i="0" sz="950" u="none" cap="none" strike="noStrike">
              <a:solidFill>
                <a:schemeClr val="dk1"/>
              </a:solidFill>
              <a:latin typeface="Roboto"/>
              <a:ea typeface="Roboto"/>
              <a:cs typeface="Roboto"/>
              <a:sym typeface="Roboto"/>
            </a:endParaRPr>
          </a:p>
        </p:txBody>
      </p:sp>
      <p:sp>
        <p:nvSpPr>
          <p:cNvPr id="303" name="Google Shape;303;p10"/>
          <p:cNvSpPr/>
          <p:nvPr/>
        </p:nvSpPr>
        <p:spPr>
          <a:xfrm>
            <a:off x="5074920" y="1389888"/>
            <a:ext cx="3703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THE VOLATILITY PARADOX</a:t>
            </a:r>
            <a:endParaRPr i="0" sz="950" u="none" cap="none" strike="noStrike">
              <a:solidFill>
                <a:schemeClr val="dk1"/>
              </a:solidFill>
              <a:latin typeface="Roboto"/>
              <a:ea typeface="Roboto"/>
              <a:cs typeface="Roboto"/>
              <a:sym typeface="Roboto"/>
            </a:endParaRPr>
          </a:p>
        </p:txBody>
      </p:sp>
      <p:sp>
        <p:nvSpPr>
          <p:cNvPr id="304" name="Google Shape;304;p10"/>
          <p:cNvSpPr/>
          <p:nvPr/>
        </p:nvSpPr>
        <p:spPr>
          <a:xfrm>
            <a:off x="5074920" y="1691640"/>
            <a:ext cx="3703200" cy="841200"/>
          </a:xfrm>
          <a:prstGeom prst="roundRect">
            <a:avLst>
              <a:gd fmla="val 6522"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05" name="Google Shape;305;p10"/>
          <p:cNvSpPr/>
          <p:nvPr/>
        </p:nvSpPr>
        <p:spPr>
          <a:xfrm>
            <a:off x="5212080" y="1755648"/>
            <a:ext cx="342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1100"/>
              <a:buFont typeface="Calibri"/>
              <a:buNone/>
            </a:pPr>
            <a:r>
              <a:rPr b="1" i="0" lang="en-US" sz="950" u="none" cap="none" strike="noStrike">
                <a:solidFill>
                  <a:srgbClr val="0A192F"/>
                </a:solidFill>
                <a:latin typeface="Roboto"/>
                <a:ea typeface="Roboto"/>
                <a:cs typeface="Roboto"/>
                <a:sym typeface="Roboto"/>
              </a:rPr>
              <a:t>Beta</a:t>
            </a:r>
            <a:endParaRPr i="0" sz="950" u="none" cap="none" strike="noStrike">
              <a:solidFill>
                <a:schemeClr val="dk1"/>
              </a:solidFill>
              <a:latin typeface="Roboto"/>
              <a:ea typeface="Roboto"/>
              <a:cs typeface="Roboto"/>
              <a:sym typeface="Roboto"/>
            </a:endParaRPr>
          </a:p>
        </p:txBody>
      </p:sp>
      <p:sp>
        <p:nvSpPr>
          <p:cNvPr id="306" name="Google Shape;306;p10"/>
          <p:cNvSpPr/>
          <p:nvPr/>
        </p:nvSpPr>
        <p:spPr>
          <a:xfrm>
            <a:off x="5212080" y="1965960"/>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Calibri"/>
              <a:buNone/>
            </a:pPr>
            <a:r>
              <a:rPr i="0" lang="en-US" sz="950" u="none" cap="none" strike="noStrike">
                <a:solidFill>
                  <a:srgbClr val="4A5568"/>
                </a:solidFill>
                <a:latin typeface="Roboto"/>
                <a:ea typeface="Roboto"/>
                <a:cs typeface="Roboto"/>
                <a:sym typeface="Roboto"/>
              </a:rPr>
              <a:t>Target: 0.85–0.95</a:t>
            </a:r>
            <a:endParaRPr i="0" sz="950" u="none" cap="none" strike="noStrike">
              <a:solidFill>
                <a:schemeClr val="dk1"/>
              </a:solidFill>
              <a:latin typeface="Roboto"/>
              <a:ea typeface="Roboto"/>
              <a:cs typeface="Roboto"/>
              <a:sym typeface="Roboto"/>
            </a:endParaRPr>
          </a:p>
        </p:txBody>
      </p:sp>
      <p:sp>
        <p:nvSpPr>
          <p:cNvPr id="307" name="Google Shape;307;p10"/>
          <p:cNvSpPr/>
          <p:nvPr/>
        </p:nvSpPr>
        <p:spPr>
          <a:xfrm>
            <a:off x="5212080" y="2148840"/>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Calibri"/>
              <a:buNone/>
            </a:pPr>
            <a:r>
              <a:rPr i="0" lang="en-US" sz="950" u="none" cap="none" strike="noStrike">
                <a:solidFill>
                  <a:srgbClr val="4A5568"/>
                </a:solidFill>
                <a:latin typeface="Roboto"/>
                <a:ea typeface="Roboto"/>
                <a:cs typeface="Roboto"/>
                <a:sym typeface="Roboto"/>
              </a:rPr>
              <a:t>Achieved: 0.830</a:t>
            </a:r>
            <a:endParaRPr i="0" sz="950" u="none" cap="none" strike="noStrike">
              <a:solidFill>
                <a:schemeClr val="dk1"/>
              </a:solidFill>
              <a:latin typeface="Roboto"/>
              <a:ea typeface="Roboto"/>
              <a:cs typeface="Roboto"/>
              <a:sym typeface="Roboto"/>
            </a:endParaRPr>
          </a:p>
        </p:txBody>
      </p:sp>
      <p:sp>
        <p:nvSpPr>
          <p:cNvPr id="308" name="Google Shape;308;p10"/>
          <p:cNvSpPr/>
          <p:nvPr/>
        </p:nvSpPr>
        <p:spPr>
          <a:xfrm>
            <a:off x="6858000" y="1984248"/>
            <a:ext cx="1783200" cy="29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1000"/>
              <a:buFont typeface="Calibri"/>
              <a:buNone/>
            </a:pPr>
            <a:r>
              <a:rPr b="1" i="0" lang="en-US" sz="950" u="none" cap="none" strike="noStrike">
                <a:solidFill>
                  <a:srgbClr val="C8A84B"/>
                </a:solidFill>
                <a:latin typeface="Roboto"/>
                <a:ea typeface="Roboto"/>
                <a:cs typeface="Roboto"/>
                <a:sym typeface="Roboto"/>
              </a:rPr>
              <a:t>⚠️ Trade-off</a:t>
            </a:r>
            <a:endParaRPr i="0" sz="950" u="none" cap="none" strike="noStrike">
              <a:solidFill>
                <a:schemeClr val="dk1"/>
              </a:solidFill>
              <a:latin typeface="Roboto"/>
              <a:ea typeface="Roboto"/>
              <a:cs typeface="Roboto"/>
              <a:sym typeface="Roboto"/>
            </a:endParaRPr>
          </a:p>
        </p:txBody>
      </p:sp>
      <p:sp>
        <p:nvSpPr>
          <p:cNvPr id="309" name="Google Shape;309;p10"/>
          <p:cNvSpPr/>
          <p:nvPr/>
        </p:nvSpPr>
        <p:spPr>
          <a:xfrm>
            <a:off x="5074920" y="2697480"/>
            <a:ext cx="3703200" cy="841200"/>
          </a:xfrm>
          <a:prstGeom prst="roundRect">
            <a:avLst>
              <a:gd fmla="val 6522" name="adj"/>
            </a:avLst>
          </a:prstGeom>
          <a:solidFill>
            <a:srgbClr val="F7F9FC"/>
          </a:solidFill>
          <a:ln cap="flat" cmpd="sng" w="12700">
            <a:solidFill>
              <a:srgbClr val="D5E0EC"/>
            </a:solidFill>
            <a:prstDash val="solid"/>
            <a:round/>
            <a:headEnd len="sm" w="sm" type="none"/>
            <a:tailEnd len="sm" w="sm" type="none"/>
          </a:ln>
          <a:effectLst>
            <a:outerShdw blurRad="76200" rotWithShape="0" algn="bl" dir="27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10" name="Google Shape;310;p10"/>
          <p:cNvSpPr/>
          <p:nvPr/>
        </p:nvSpPr>
        <p:spPr>
          <a:xfrm>
            <a:off x="5212080" y="2761488"/>
            <a:ext cx="342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1100"/>
              <a:buFont typeface="Calibri"/>
              <a:buNone/>
            </a:pPr>
            <a:r>
              <a:rPr b="1" i="0" lang="en-US" sz="950" u="none" cap="none" strike="noStrike">
                <a:solidFill>
                  <a:srgbClr val="0A192F"/>
                </a:solidFill>
                <a:latin typeface="Roboto"/>
                <a:ea typeface="Roboto"/>
                <a:cs typeface="Roboto"/>
                <a:sym typeface="Roboto"/>
              </a:rPr>
              <a:t>Sharpe Ratio</a:t>
            </a:r>
            <a:endParaRPr i="0" sz="950" u="none" cap="none" strike="noStrike">
              <a:solidFill>
                <a:schemeClr val="dk1"/>
              </a:solidFill>
              <a:latin typeface="Roboto"/>
              <a:ea typeface="Roboto"/>
              <a:cs typeface="Roboto"/>
              <a:sym typeface="Roboto"/>
            </a:endParaRPr>
          </a:p>
        </p:txBody>
      </p:sp>
      <p:sp>
        <p:nvSpPr>
          <p:cNvPr id="311" name="Google Shape;311;p10"/>
          <p:cNvSpPr/>
          <p:nvPr/>
        </p:nvSpPr>
        <p:spPr>
          <a:xfrm>
            <a:off x="5212080" y="2971800"/>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Calibri"/>
              <a:buNone/>
            </a:pPr>
            <a:r>
              <a:rPr i="0" lang="en-US" sz="950" u="none" cap="none" strike="noStrike">
                <a:solidFill>
                  <a:srgbClr val="4A5568"/>
                </a:solidFill>
                <a:latin typeface="Roboto"/>
                <a:ea typeface="Roboto"/>
                <a:cs typeface="Roboto"/>
                <a:sym typeface="Roboto"/>
              </a:rPr>
              <a:t>Target: &gt; 0.65</a:t>
            </a:r>
            <a:endParaRPr i="0" sz="950" u="none" cap="none" strike="noStrike">
              <a:solidFill>
                <a:schemeClr val="dk1"/>
              </a:solidFill>
              <a:latin typeface="Roboto"/>
              <a:ea typeface="Roboto"/>
              <a:cs typeface="Roboto"/>
              <a:sym typeface="Roboto"/>
            </a:endParaRPr>
          </a:p>
        </p:txBody>
      </p:sp>
      <p:sp>
        <p:nvSpPr>
          <p:cNvPr id="312" name="Google Shape;312;p10"/>
          <p:cNvSpPr/>
          <p:nvPr/>
        </p:nvSpPr>
        <p:spPr>
          <a:xfrm>
            <a:off x="5212080" y="3154680"/>
            <a:ext cx="1645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00"/>
              <a:buFont typeface="Calibri"/>
              <a:buNone/>
            </a:pPr>
            <a:r>
              <a:rPr i="0" lang="en-US" sz="950" u="none" cap="none" strike="noStrike">
                <a:solidFill>
                  <a:srgbClr val="4A5568"/>
                </a:solidFill>
                <a:latin typeface="Roboto"/>
                <a:ea typeface="Roboto"/>
                <a:cs typeface="Roboto"/>
                <a:sym typeface="Roboto"/>
              </a:rPr>
              <a:t>Achieved: 0.516</a:t>
            </a:r>
            <a:endParaRPr i="0" sz="950" u="none" cap="none" strike="noStrike">
              <a:solidFill>
                <a:schemeClr val="dk1"/>
              </a:solidFill>
              <a:latin typeface="Roboto"/>
              <a:ea typeface="Roboto"/>
              <a:cs typeface="Roboto"/>
              <a:sym typeface="Roboto"/>
            </a:endParaRPr>
          </a:p>
        </p:txBody>
      </p:sp>
      <p:sp>
        <p:nvSpPr>
          <p:cNvPr id="313" name="Google Shape;313;p10"/>
          <p:cNvSpPr/>
          <p:nvPr/>
        </p:nvSpPr>
        <p:spPr>
          <a:xfrm>
            <a:off x="6858000" y="2990088"/>
            <a:ext cx="1783200" cy="29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1000"/>
              <a:buFont typeface="Calibri"/>
              <a:buNone/>
            </a:pPr>
            <a:r>
              <a:rPr b="1" i="0" lang="en-US" sz="950" u="none" cap="none" strike="noStrike">
                <a:solidFill>
                  <a:srgbClr val="C8A84B"/>
                </a:solidFill>
                <a:latin typeface="Roboto"/>
                <a:ea typeface="Roboto"/>
                <a:cs typeface="Roboto"/>
                <a:sym typeface="Roboto"/>
              </a:rPr>
              <a:t>⚠️ Trade-off</a:t>
            </a:r>
            <a:endParaRPr i="0" sz="950" u="none" cap="none" strike="noStrike">
              <a:solidFill>
                <a:schemeClr val="dk1"/>
              </a:solidFill>
              <a:latin typeface="Roboto"/>
              <a:ea typeface="Roboto"/>
              <a:cs typeface="Roboto"/>
              <a:sym typeface="Roboto"/>
            </a:endParaRPr>
          </a:p>
        </p:txBody>
      </p:sp>
      <p:sp>
        <p:nvSpPr>
          <p:cNvPr id="314" name="Google Shape;314;p10"/>
          <p:cNvSpPr/>
          <p:nvPr/>
        </p:nvSpPr>
        <p:spPr>
          <a:xfrm>
            <a:off x="5074920" y="3749040"/>
            <a:ext cx="3703200" cy="475500"/>
          </a:xfrm>
          <a:prstGeom prst="roundRect">
            <a:avLst>
              <a:gd fmla="val 11538" name="adj"/>
            </a:avLst>
          </a:prstGeom>
          <a:solidFill>
            <a:srgbClr val="FFF0E8"/>
          </a:solidFill>
          <a:ln cap="flat" cmpd="sng" w="12700">
            <a:solidFill>
              <a:srgbClr val="FF7F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15" name="Google Shape;315;p10"/>
          <p:cNvSpPr/>
          <p:nvPr/>
        </p:nvSpPr>
        <p:spPr>
          <a:xfrm>
            <a:off x="5212080" y="3767328"/>
            <a:ext cx="34746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800"/>
              <a:buFont typeface="Calibri"/>
              <a:buNone/>
            </a:pPr>
            <a:r>
              <a:rPr i="0" lang="en-US" sz="950" u="none" cap="none" strike="noStrike">
                <a:solidFill>
                  <a:srgbClr val="0A192F"/>
                </a:solidFill>
                <a:latin typeface="Roboto"/>
                <a:ea typeface="Roboto"/>
                <a:cs typeface="Roboto"/>
                <a:sym typeface="Roboto"/>
              </a:rPr>
              <a:t>Simulation testing showed Beta &gt;0.90 and Sharpe &gt;0.65 required Volatility &gt;15% and drawdowns beyond acceptable limits. The optimizer shifted capital to defensive FMCG and Healthcare.</a:t>
            </a:r>
            <a:endParaRPr i="0" sz="950" u="none" cap="none" strike="noStrike">
              <a:solidFill>
                <a:schemeClr val="dk1"/>
              </a:solidFill>
              <a:latin typeface="Roboto"/>
              <a:ea typeface="Roboto"/>
              <a:cs typeface="Roboto"/>
              <a:sym typeface="Roboto"/>
            </a:endParaRPr>
          </a:p>
        </p:txBody>
      </p:sp>
      <p:sp>
        <p:nvSpPr>
          <p:cNvPr id="316" name="Google Shape;316;p10"/>
          <p:cNvSpPr/>
          <p:nvPr/>
        </p:nvSpPr>
        <p:spPr>
          <a:xfrm>
            <a:off x="347472" y="4315968"/>
            <a:ext cx="8449200" cy="530400"/>
          </a:xfrm>
          <a:prstGeom prst="roundRect">
            <a:avLst>
              <a:gd fmla="val 10345" name="adj"/>
            </a:avLst>
          </a:prstGeom>
          <a:solidFill>
            <a:srgbClr val="F0F4F9"/>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548640" y="4352544"/>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lang="en-US" sz="950" u="none" cap="none" strike="noStrike">
                <a:solidFill>
                  <a:srgbClr val="0A192F"/>
                </a:solidFill>
                <a:latin typeface="Roboto"/>
                <a:ea typeface="Roboto"/>
                <a:cs typeface="Roboto"/>
                <a:sym typeface="Roboto"/>
              </a:rPr>
              <a:t>The Beta and Sharpe shortfalls are not failures — they are the cost of maintaining drawdown discipline. The optimizer correctly determined that capital preservation outweighed exposure maximization.</a:t>
            </a:r>
            <a:endParaRPr sz="950" u="none" cap="none" strike="noStrike">
              <a:solidFill>
                <a:schemeClr val="dk1"/>
              </a:solidFill>
              <a:latin typeface="Roboto"/>
              <a:ea typeface="Roboto"/>
              <a:cs typeface="Roboto"/>
              <a:sym typeface="Roboto"/>
            </a:endParaRPr>
          </a:p>
        </p:txBody>
      </p:sp>
      <p:pic>
        <p:nvPicPr>
          <p:cNvPr id="318" name="Google Shape;318;p10" title="Screenshot 2026-06-23 at 3.33.20 AM.png"/>
          <p:cNvPicPr preferRelativeResize="0"/>
          <p:nvPr/>
        </p:nvPicPr>
        <p:blipFill>
          <a:blip r:embed="rId3">
            <a:alphaModFix/>
          </a:blip>
          <a:stretch>
            <a:fillRect/>
          </a:stretch>
        </p:blipFill>
        <p:spPr>
          <a:xfrm>
            <a:off x="152400" y="2346888"/>
            <a:ext cx="4318899" cy="18166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11"/>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365760" y="0"/>
            <a:ext cx="74980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Tahoma"/>
                <a:ea typeface="Tahoma"/>
                <a:cs typeface="Tahoma"/>
                <a:sym typeface="Tahoma"/>
              </a:rPr>
              <a:t>FINAL TARGET-LOCKED PORTFOLIO</a:t>
            </a:r>
            <a:endParaRPr i="0" sz="1300" u="none" cap="none" strike="noStrike">
              <a:solidFill>
                <a:schemeClr val="dk1"/>
              </a:solidFill>
              <a:latin typeface="Tahoma"/>
              <a:ea typeface="Tahoma"/>
              <a:cs typeface="Tahoma"/>
              <a:sym typeface="Tahoma"/>
            </a:endParaRPr>
          </a:p>
        </p:txBody>
      </p:sp>
      <p:sp>
        <p:nvSpPr>
          <p:cNvPr id="326" name="Google Shape;326;p11"/>
          <p:cNvSpPr/>
          <p:nvPr/>
        </p:nvSpPr>
        <p:spPr>
          <a:xfrm>
            <a:off x="7772400" y="0"/>
            <a:ext cx="109728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09</a:t>
            </a:r>
            <a:endParaRPr b="0" i="0" sz="900" u="none" cap="none" strike="noStrike">
              <a:solidFill>
                <a:schemeClr val="dk1"/>
              </a:solidFill>
              <a:latin typeface="Calibri"/>
              <a:ea typeface="Calibri"/>
              <a:cs typeface="Calibri"/>
              <a:sym typeface="Calibri"/>
            </a:endParaRPr>
          </a:p>
        </p:txBody>
      </p:sp>
      <p:sp>
        <p:nvSpPr>
          <p:cNvPr id="327" name="Google Shape;327;p11"/>
          <p:cNvSpPr/>
          <p:nvPr/>
        </p:nvSpPr>
        <p:spPr>
          <a:xfrm>
            <a:off x="365760" y="804672"/>
            <a:ext cx="841248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548640" y="822960"/>
            <a:ext cx="80467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Every allocation reflects a balance between conviction, diversification, and risk control. No position is held arbitrarily.</a:t>
            </a:r>
            <a:endParaRPr i="0" sz="950" u="none" cap="none" strike="noStrike">
              <a:solidFill>
                <a:schemeClr val="dk1"/>
              </a:solidFill>
              <a:latin typeface="Roboto"/>
              <a:ea typeface="Roboto"/>
              <a:cs typeface="Roboto"/>
              <a:sym typeface="Roboto"/>
            </a:endParaRPr>
          </a:p>
        </p:txBody>
      </p:sp>
      <p:graphicFrame>
        <p:nvGraphicFramePr>
          <p:cNvPr id="329" name="Google Shape;329;p11"/>
          <p:cNvGraphicFramePr/>
          <p:nvPr/>
        </p:nvGraphicFramePr>
        <p:xfrm>
          <a:off x="134997" y="1380750"/>
          <a:ext cx="3000000" cy="3000000"/>
        </p:xfrm>
        <a:graphic>
          <a:graphicData uri="http://schemas.openxmlformats.org/drawingml/2006/table">
            <a:tbl>
              <a:tblPr>
                <a:noFill/>
                <a:tableStyleId>{098A27E6-43D6-4C41-B81A-627181AE2184}</a:tableStyleId>
              </a:tblPr>
              <a:tblGrid>
                <a:gridCol w="1434875"/>
                <a:gridCol w="614925"/>
                <a:gridCol w="1434875"/>
                <a:gridCol w="871175"/>
                <a:gridCol w="614925"/>
                <a:gridCol w="666175"/>
              </a:tblGrid>
              <a:tr h="179700">
                <a:tc>
                  <a:txBody>
                    <a:bodyPr/>
                    <a:lstStyle/>
                    <a:p>
                      <a:pPr indent="0" lvl="0" marL="0" marR="0" rtl="0" algn="l">
                        <a:spcBef>
                          <a:spcPts val="0"/>
                        </a:spcBef>
                        <a:spcAft>
                          <a:spcPts val="0"/>
                        </a:spcAft>
                        <a:buClr>
                          <a:srgbClr val="FFFFFF"/>
                        </a:buClr>
                        <a:buSzPts val="850"/>
                        <a:buFont typeface="Calibri"/>
                        <a:buNone/>
                      </a:pPr>
                      <a:r>
                        <a:rPr b="1" lang="en-US" sz="750" u="none" cap="none" strike="noStrike">
                          <a:solidFill>
                            <a:srgbClr val="FFFFFF"/>
                          </a:solidFill>
                          <a:latin typeface="Roboto"/>
                          <a:ea typeface="Roboto"/>
                          <a:cs typeface="Roboto"/>
                          <a:sym typeface="Roboto"/>
                        </a:rPr>
                        <a:t>Security</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750" u="none" cap="none" strike="noStrike">
                          <a:solidFill>
                            <a:srgbClr val="FFFFFF"/>
                          </a:solidFill>
                          <a:latin typeface="Roboto"/>
                          <a:ea typeface="Roboto"/>
                          <a:cs typeface="Roboto"/>
                          <a:sym typeface="Roboto"/>
                        </a:rPr>
                        <a:t>Alloc.</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750" u="none" cap="none" strike="noStrike">
                          <a:solidFill>
                            <a:srgbClr val="FFFFFF"/>
                          </a:solidFill>
                          <a:latin typeface="Roboto"/>
                          <a:ea typeface="Roboto"/>
                          <a:cs typeface="Roboto"/>
                          <a:sym typeface="Roboto"/>
                        </a:rPr>
                        <a:t>Layer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750" u="none" cap="none" strike="noStrike">
                          <a:solidFill>
                            <a:srgbClr val="FFFFFF"/>
                          </a:solidFill>
                          <a:latin typeface="Roboto"/>
                          <a:ea typeface="Roboto"/>
                          <a:cs typeface="Roboto"/>
                          <a:sym typeface="Roboto"/>
                        </a:rPr>
                        <a:t>Sector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750" u="none" cap="none" strike="noStrike">
                          <a:solidFill>
                            <a:srgbClr val="FFFFFF"/>
                          </a:solidFill>
                          <a:latin typeface="Roboto"/>
                          <a:ea typeface="Roboto"/>
                          <a:cs typeface="Roboto"/>
                          <a:sym typeface="Roboto"/>
                        </a:rPr>
                        <a:t>Beta</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c>
                  <a:txBody>
                    <a:bodyPr/>
                    <a:lstStyle/>
                    <a:p>
                      <a:pPr indent="0" lvl="0" marL="0" marR="0" rtl="0" algn="ctr">
                        <a:spcBef>
                          <a:spcPts val="0"/>
                        </a:spcBef>
                        <a:spcAft>
                          <a:spcPts val="0"/>
                        </a:spcAft>
                        <a:buClr>
                          <a:srgbClr val="FFFFFF"/>
                        </a:buClr>
                        <a:buSzPts val="850"/>
                        <a:buFont typeface="Calibri"/>
                        <a:buNone/>
                      </a:pPr>
                      <a:r>
                        <a:rPr b="1" lang="en-US" sz="750" u="none" cap="none" strike="noStrike">
                          <a:solidFill>
                            <a:srgbClr val="FFFFFF"/>
                          </a:solidFill>
                          <a:latin typeface="Roboto"/>
                          <a:ea typeface="Roboto"/>
                          <a:cs typeface="Roboto"/>
                          <a:sym typeface="Roboto"/>
                        </a:rPr>
                        <a:t>F.Score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0A192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Bharti Airtel</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11.5%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Telecom</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1.05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0.74</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Atul Ltd</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10.2%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Chemicals</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0.88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0.71</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UltraTech Cement</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9.8%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Materials</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1.12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0.69</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Choice Intl</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8.9%</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NBFC</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1.21</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Eicher Motors</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7.4%</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Auto</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0.95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Marico</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7.2%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800"/>
                        <a:buFont typeface="Calibri"/>
                        <a:buNone/>
                      </a:pPr>
                      <a:r>
                        <a:rPr lang="en-US" sz="750" u="none" cap="none" strike="noStrike">
                          <a:solidFill>
                            <a:srgbClr val="2E8B57"/>
                          </a:solidFill>
                          <a:latin typeface="Roboto"/>
                          <a:ea typeface="Roboto"/>
                          <a:cs typeface="Roboto"/>
                          <a:sym typeface="Roboto"/>
                        </a:rPr>
                        <a:t>Core Compounder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FMCG</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Sun Pharma</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6.8%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800"/>
                        <a:buFont typeface="Calibri"/>
                        <a:buNone/>
                      </a:pPr>
                      <a:r>
                        <a:rPr lang="en-US" sz="750" u="none" cap="none" strike="noStrike">
                          <a:solidFill>
                            <a:srgbClr val="2E8B57"/>
                          </a:solidFill>
                          <a:latin typeface="Roboto"/>
                          <a:ea typeface="Roboto"/>
                          <a:cs typeface="Roboto"/>
                          <a:sym typeface="Roboto"/>
                        </a:rPr>
                        <a:t>Core Compounder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Pharma</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JSW Steel</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7.0%</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7F50"/>
                        </a:buClr>
                        <a:buSzPts val="800"/>
                        <a:buFont typeface="Calibri"/>
                        <a:buNone/>
                      </a:pPr>
                      <a:r>
                        <a:rPr lang="en-US" sz="750" u="none" cap="none" strike="noStrike">
                          <a:solidFill>
                            <a:srgbClr val="FF7F50"/>
                          </a:solidFill>
                          <a:latin typeface="Roboto"/>
                          <a:ea typeface="Roboto"/>
                          <a:cs typeface="Roboto"/>
                          <a:sym typeface="Roboto"/>
                        </a:rPr>
                        <a:t>Tactical Satellite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Metals</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1.35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ICICI Bank</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6.5%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800"/>
                        <a:buFont typeface="Calibri"/>
                        <a:buNone/>
                      </a:pPr>
                      <a:r>
                        <a:rPr lang="en-US" sz="750" u="none" cap="none" strike="noStrike">
                          <a:solidFill>
                            <a:srgbClr val="2E8B57"/>
                          </a:solidFill>
                          <a:latin typeface="Roboto"/>
                          <a:ea typeface="Roboto"/>
                          <a:cs typeface="Roboto"/>
                          <a:sym typeface="Roboto"/>
                        </a:rPr>
                        <a:t>Core Compounder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Banking</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1.08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0.73</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AIA Engineering</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5.5%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Industrials</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0.82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3M India</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5.2%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Diversified</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0.76</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0.70</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Bosch</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4.8%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Auto Anc.</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0.85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0.71</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Lupin</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3.9%</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800"/>
                        <a:buFont typeface="Calibri"/>
                        <a:buNone/>
                      </a:pPr>
                      <a:r>
                        <a:rPr lang="en-US" sz="750" u="none" cap="none" strike="noStrike">
                          <a:solidFill>
                            <a:srgbClr val="2E8B57"/>
                          </a:solidFill>
                          <a:latin typeface="Roboto"/>
                          <a:ea typeface="Roboto"/>
                          <a:cs typeface="Roboto"/>
                          <a:sym typeface="Roboto"/>
                        </a:rPr>
                        <a:t>Core Compounder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Pharma</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0.68</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0.71</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Nestlé India</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3.6%</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800"/>
                        <a:buFont typeface="Calibri"/>
                        <a:buNone/>
                      </a:pPr>
                      <a:r>
                        <a:rPr lang="en-US" sz="750" u="none" cap="none" strike="noStrike">
                          <a:solidFill>
                            <a:srgbClr val="2E8B57"/>
                          </a:solidFill>
                          <a:latin typeface="Roboto"/>
                          <a:ea typeface="Roboto"/>
                          <a:cs typeface="Roboto"/>
                          <a:sym typeface="Roboto"/>
                        </a:rPr>
                        <a:t>Core Compounder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FMCG</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0.55</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0.72</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Power Grid</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3.3%</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2E8B57"/>
                        </a:buClr>
                        <a:buSzPts val="800"/>
                        <a:buFont typeface="Calibri"/>
                        <a:buNone/>
                      </a:pPr>
                      <a:r>
                        <a:rPr lang="en-US" sz="750" u="none" cap="none" strike="noStrike">
                          <a:solidFill>
                            <a:srgbClr val="2E8B57"/>
                          </a:solidFill>
                          <a:latin typeface="Roboto"/>
                          <a:ea typeface="Roboto"/>
                          <a:cs typeface="Roboto"/>
                          <a:sym typeface="Roboto"/>
                        </a:rPr>
                        <a:t>Core Compounder</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Utilities</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0.60</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0.76</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7F9FC"/>
                    </a:solidFill>
                  </a:tcPr>
                </a:tc>
              </a:tr>
              <a:tr h="192100">
                <a:tc>
                  <a:txBody>
                    <a:bodyPr/>
                    <a:lstStyle/>
                    <a:p>
                      <a:pPr indent="0" lvl="0" marL="0" marR="0" rtl="0" algn="l">
                        <a:spcBef>
                          <a:spcPts val="0"/>
                        </a:spcBef>
                        <a:spcAft>
                          <a:spcPts val="0"/>
                        </a:spcAft>
                        <a:buClr>
                          <a:srgbClr val="0A192F"/>
                        </a:buClr>
                        <a:buSzPts val="800"/>
                        <a:buFont typeface="Calibri"/>
                        <a:buNone/>
                      </a:pPr>
                      <a:r>
                        <a:rPr b="1" lang="en-US" sz="750" u="none" cap="none" strike="noStrike">
                          <a:solidFill>
                            <a:srgbClr val="0A192F"/>
                          </a:solidFill>
                          <a:latin typeface="Roboto"/>
                          <a:ea typeface="Roboto"/>
                          <a:cs typeface="Roboto"/>
                          <a:sym typeface="Roboto"/>
                        </a:rPr>
                        <a:t>Pidilite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2.4%</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3A6B"/>
                        </a:buClr>
                        <a:buSzPts val="800"/>
                        <a:buFont typeface="Calibri"/>
                        <a:buNone/>
                      </a:pPr>
                      <a:r>
                        <a:rPr lang="en-US" sz="750" u="none" cap="none" strike="noStrike">
                          <a:solidFill>
                            <a:srgbClr val="1B3A6B"/>
                          </a:solidFill>
                          <a:latin typeface="Roboto"/>
                          <a:ea typeface="Roboto"/>
                          <a:cs typeface="Roboto"/>
                          <a:sym typeface="Roboto"/>
                        </a:rPr>
                        <a:t>Alpha Engine</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Chemicals</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0.90</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800"/>
                        <a:buFont typeface="Calibri"/>
                        <a:buNone/>
                      </a:pPr>
                      <a:r>
                        <a:rPr lang="en-US" sz="750" u="none" cap="none" strike="noStrike">
                          <a:solidFill>
                            <a:srgbClr val="4A5568"/>
                          </a:solidFill>
                          <a:latin typeface="Roboto"/>
                          <a:ea typeface="Roboto"/>
                          <a:cs typeface="Roboto"/>
                          <a:sym typeface="Roboto"/>
                        </a:rPr>
                        <a:t>0.69</a:t>
                      </a:r>
                      <a:endParaRPr sz="750" u="none" cap="none" strike="noStrike">
                        <a:latin typeface="Roboto"/>
                        <a:ea typeface="Roboto"/>
                        <a:cs typeface="Roboto"/>
                        <a:sym typeface="Roboto"/>
                      </a:endParaRPr>
                    </a:p>
                  </a:txBody>
                  <a:tcPr marT="45725" marB="45725" marR="91450" marL="91450">
                    <a:lnL cap="flat" cmpd="sng" w="9525">
                      <a:solidFill>
                        <a:srgbClr val="D5E0EC"/>
                      </a:solidFill>
                      <a:prstDash val="solid"/>
                      <a:round/>
                      <a:headEnd len="sm" w="sm" type="none"/>
                      <a:tailEnd len="sm" w="sm" type="none"/>
                    </a:lnL>
                    <a:lnR cap="flat" cmpd="sng" w="9525">
                      <a:solidFill>
                        <a:srgbClr val="D5E0EC"/>
                      </a:solidFill>
                      <a:prstDash val="solid"/>
                      <a:round/>
                      <a:headEnd len="sm" w="sm" type="none"/>
                      <a:tailEnd len="sm" w="sm" type="none"/>
                    </a:lnR>
                    <a:lnT cap="flat" cmpd="sng" w="9525">
                      <a:solidFill>
                        <a:srgbClr val="D5E0EC"/>
                      </a:solidFill>
                      <a:prstDash val="solid"/>
                      <a:round/>
                      <a:headEnd len="sm" w="sm" type="none"/>
                      <a:tailEnd len="sm" w="sm" type="none"/>
                    </a:lnT>
                    <a:lnB cap="flat" cmpd="sng" w="9525">
                      <a:solidFill>
                        <a:srgbClr val="D5E0EC"/>
                      </a:solidFill>
                      <a:prstDash val="solid"/>
                      <a:round/>
                      <a:headEnd len="sm" w="sm" type="none"/>
                      <a:tailEnd len="sm" w="sm" type="none"/>
                    </a:lnB>
                    <a:solidFill>
                      <a:srgbClr val="FFFFFF"/>
                    </a:solidFill>
                  </a:tcPr>
                </a:tc>
              </a:tr>
            </a:tbl>
          </a:graphicData>
        </a:graphic>
      </p:graphicFrame>
      <p:pic>
        <p:nvPicPr>
          <p:cNvPr id="330" name="Google Shape;330;p11"/>
          <p:cNvPicPr preferRelativeResize="0"/>
          <p:nvPr/>
        </p:nvPicPr>
        <p:blipFill rotWithShape="1">
          <a:blip r:embed="rId3">
            <a:alphaModFix/>
          </a:blip>
          <a:srcRect b="0" l="0" r="0" t="0"/>
          <a:stretch/>
        </p:blipFill>
        <p:spPr>
          <a:xfrm>
            <a:off x="6136300" y="1362450"/>
            <a:ext cx="2964600" cy="1753800"/>
          </a:xfrm>
          <a:prstGeom prst="rect">
            <a:avLst/>
          </a:prstGeom>
          <a:noFill/>
          <a:ln>
            <a:noFill/>
          </a:ln>
        </p:spPr>
      </p:pic>
      <p:pic>
        <p:nvPicPr>
          <p:cNvPr id="331" name="Google Shape;331;p11"/>
          <p:cNvPicPr preferRelativeResize="0"/>
          <p:nvPr/>
        </p:nvPicPr>
        <p:blipFill rotWithShape="1">
          <a:blip r:embed="rId4">
            <a:alphaModFix/>
          </a:blip>
          <a:srcRect b="0" l="0" r="0" t="0"/>
          <a:stretch/>
        </p:blipFill>
        <p:spPr>
          <a:xfrm>
            <a:off x="6224524" y="3383326"/>
            <a:ext cx="2919300" cy="131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12"/>
          <p:cNvSpPr/>
          <p:nvPr/>
        </p:nvSpPr>
        <p:spPr>
          <a:xfrm>
            <a:off x="0" y="0"/>
            <a:ext cx="9144000" cy="685800"/>
          </a:xfrm>
          <a:prstGeom prst="rect">
            <a:avLst/>
          </a:prstGeom>
          <a:solidFill>
            <a:srgbClr val="0A192F"/>
          </a:solidFill>
          <a:ln cap="flat" cmpd="sng" w="12700">
            <a:solidFill>
              <a:srgbClr val="0A19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365760" y="0"/>
            <a:ext cx="74980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300" u="none" cap="none" strike="noStrike">
                <a:solidFill>
                  <a:srgbClr val="FFFFFF"/>
                </a:solidFill>
                <a:latin typeface="Tahoma"/>
                <a:ea typeface="Tahoma"/>
                <a:cs typeface="Tahoma"/>
                <a:sym typeface="Tahoma"/>
              </a:rPr>
              <a:t>INVESTMENT LIFECYCLE</a:t>
            </a:r>
            <a:r>
              <a:rPr b="1" lang="en-US" sz="1300">
                <a:solidFill>
                  <a:srgbClr val="FFFFFF"/>
                </a:solidFill>
                <a:latin typeface="Tahoma"/>
                <a:ea typeface="Tahoma"/>
                <a:cs typeface="Tahoma"/>
                <a:sym typeface="Tahoma"/>
              </a:rPr>
              <a:t> &amp; </a:t>
            </a:r>
            <a:r>
              <a:rPr b="1" i="0" lang="en-US" sz="1300" u="none" cap="none" strike="noStrike">
                <a:solidFill>
                  <a:srgbClr val="FFFFFF"/>
                </a:solidFill>
                <a:latin typeface="Tahoma"/>
                <a:ea typeface="Tahoma"/>
                <a:cs typeface="Tahoma"/>
                <a:sym typeface="Tahoma"/>
              </a:rPr>
              <a:t>SCALABILITY</a:t>
            </a:r>
            <a:endParaRPr i="0" sz="1300" u="none" cap="none" strike="noStrike">
              <a:solidFill>
                <a:schemeClr val="dk1"/>
              </a:solidFill>
              <a:latin typeface="Tahoma"/>
              <a:ea typeface="Tahoma"/>
              <a:cs typeface="Tahoma"/>
              <a:sym typeface="Tahoma"/>
            </a:endParaRPr>
          </a:p>
        </p:txBody>
      </p:sp>
      <p:sp>
        <p:nvSpPr>
          <p:cNvPr id="339" name="Google Shape;339;p12"/>
          <p:cNvSpPr/>
          <p:nvPr/>
        </p:nvSpPr>
        <p:spPr>
          <a:xfrm>
            <a:off x="7772400" y="0"/>
            <a:ext cx="1097280" cy="68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A84B"/>
              </a:buClr>
              <a:buSzPts val="900"/>
              <a:buFont typeface="Calibri"/>
              <a:buNone/>
            </a:pPr>
            <a:r>
              <a:rPr b="1" i="0" lang="en-US" sz="900" u="none" cap="none" strike="noStrike">
                <a:solidFill>
                  <a:srgbClr val="C8A84B"/>
                </a:solidFill>
                <a:latin typeface="Calibri"/>
                <a:ea typeface="Calibri"/>
                <a:cs typeface="Calibri"/>
                <a:sym typeface="Calibri"/>
              </a:rPr>
              <a:t>SLIDE 10</a:t>
            </a:r>
            <a:endParaRPr b="0" i="0" sz="900" u="none" cap="none" strike="noStrike">
              <a:solidFill>
                <a:schemeClr val="dk1"/>
              </a:solidFill>
              <a:latin typeface="Calibri"/>
              <a:ea typeface="Calibri"/>
              <a:cs typeface="Calibri"/>
              <a:sym typeface="Calibri"/>
            </a:endParaRPr>
          </a:p>
        </p:txBody>
      </p:sp>
      <p:sp>
        <p:nvSpPr>
          <p:cNvPr id="340" name="Google Shape;340;p12"/>
          <p:cNvSpPr/>
          <p:nvPr/>
        </p:nvSpPr>
        <p:spPr>
          <a:xfrm>
            <a:off x="365760" y="804672"/>
            <a:ext cx="8412480" cy="457200"/>
          </a:xfrm>
          <a:prstGeom prst="roundRect">
            <a:avLst>
              <a:gd fmla="val 12000"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
          <p:cNvSpPr/>
          <p:nvPr/>
        </p:nvSpPr>
        <p:spPr>
          <a:xfrm>
            <a:off x="548640" y="822960"/>
            <a:ext cx="80467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EXECUTIVE TAKEAWAY  </a:t>
            </a:r>
            <a:r>
              <a:rPr i="0" lang="en-US" sz="950" u="none" cap="none" strike="noStrike">
                <a:solidFill>
                  <a:srgbClr val="4A5568"/>
                </a:solidFill>
                <a:latin typeface="Roboto"/>
                <a:ea typeface="Roboto"/>
                <a:cs typeface="Roboto"/>
                <a:sym typeface="Roboto"/>
              </a:rPr>
              <a:t>The framework replicates a complete institutional investment workflow — from data ingestion to performance attribution.</a:t>
            </a:r>
            <a:endParaRPr i="0" sz="950" u="none" cap="none" strike="noStrike">
              <a:solidFill>
                <a:schemeClr val="dk1"/>
              </a:solidFill>
              <a:latin typeface="Roboto"/>
              <a:ea typeface="Roboto"/>
              <a:cs typeface="Roboto"/>
              <a:sym typeface="Roboto"/>
            </a:endParaRPr>
          </a:p>
        </p:txBody>
      </p:sp>
      <p:sp>
        <p:nvSpPr>
          <p:cNvPr id="342" name="Google Shape;342;p12"/>
          <p:cNvSpPr/>
          <p:nvPr/>
        </p:nvSpPr>
        <p:spPr>
          <a:xfrm>
            <a:off x="347472" y="1389888"/>
            <a:ext cx="3657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INVESTMENT LIFECYCLE</a:t>
            </a:r>
            <a:endParaRPr i="0" sz="950" u="none" cap="none" strike="noStrike">
              <a:solidFill>
                <a:schemeClr val="dk1"/>
              </a:solidFill>
              <a:latin typeface="Roboto"/>
              <a:ea typeface="Roboto"/>
              <a:cs typeface="Roboto"/>
              <a:sym typeface="Roboto"/>
            </a:endParaRPr>
          </a:p>
        </p:txBody>
      </p:sp>
      <p:sp>
        <p:nvSpPr>
          <p:cNvPr id="343" name="Google Shape;343;p12"/>
          <p:cNvSpPr/>
          <p:nvPr/>
        </p:nvSpPr>
        <p:spPr>
          <a:xfrm>
            <a:off x="347472" y="1664208"/>
            <a:ext cx="1783080" cy="402336"/>
          </a:xfrm>
          <a:prstGeom prst="roundRect">
            <a:avLst>
              <a:gd fmla="val 9091" name="adj"/>
            </a:avLst>
          </a:prstGeom>
          <a:solidFill>
            <a:srgbClr val="1B3A6B"/>
          </a:solidFill>
          <a:ln cap="flat" cmpd="sng" w="12700">
            <a:solidFill>
              <a:srgbClr val="1B3A6B"/>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420624" y="1664208"/>
            <a:ext cx="16641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Research Universe</a:t>
            </a:r>
            <a:endParaRPr i="0" sz="800" u="none" cap="none" strike="noStrike">
              <a:solidFill>
                <a:schemeClr val="dk1"/>
              </a:solidFill>
              <a:latin typeface="Roboto"/>
              <a:ea typeface="Roboto"/>
              <a:cs typeface="Roboto"/>
              <a:sym typeface="Roboto"/>
            </a:endParaRPr>
          </a:p>
        </p:txBody>
      </p:sp>
      <p:cxnSp>
        <p:nvCxnSpPr>
          <p:cNvPr id="345" name="Google Shape;345;p12"/>
          <p:cNvCxnSpPr/>
          <p:nvPr/>
        </p:nvCxnSpPr>
        <p:spPr>
          <a:xfrm>
            <a:off x="1239012" y="2075688"/>
            <a:ext cx="0" cy="128016"/>
          </a:xfrm>
          <a:prstGeom prst="straightConnector1">
            <a:avLst/>
          </a:prstGeom>
          <a:noFill/>
          <a:ln cap="flat" cmpd="sng" w="19050">
            <a:solidFill>
              <a:srgbClr val="708090"/>
            </a:solidFill>
            <a:prstDash val="solid"/>
            <a:round/>
            <a:headEnd len="sm" w="sm" type="none"/>
            <a:tailEnd len="sm" w="sm" type="none"/>
          </a:ln>
        </p:spPr>
      </p:cxnSp>
      <p:sp>
        <p:nvSpPr>
          <p:cNvPr id="346" name="Google Shape;346;p12"/>
          <p:cNvSpPr/>
          <p:nvPr/>
        </p:nvSpPr>
        <p:spPr>
          <a:xfrm>
            <a:off x="347472" y="2212848"/>
            <a:ext cx="1783080" cy="402336"/>
          </a:xfrm>
          <a:prstGeom prst="roundRect">
            <a:avLst>
              <a:gd fmla="val 9091" name="adj"/>
            </a:avLst>
          </a:prstGeom>
          <a:solidFill>
            <a:srgbClr val="1B3A6B"/>
          </a:solidFill>
          <a:ln cap="flat" cmpd="sng" w="12700">
            <a:solidFill>
              <a:srgbClr val="1B3A6B"/>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2"/>
          <p:cNvSpPr/>
          <p:nvPr/>
        </p:nvSpPr>
        <p:spPr>
          <a:xfrm>
            <a:off x="420624" y="2212848"/>
            <a:ext cx="16642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Fundamental Screening</a:t>
            </a:r>
            <a:endParaRPr i="0" sz="800" u="none" cap="none" strike="noStrike">
              <a:solidFill>
                <a:schemeClr val="dk1"/>
              </a:solidFill>
              <a:latin typeface="Roboto"/>
              <a:ea typeface="Roboto"/>
              <a:cs typeface="Roboto"/>
              <a:sym typeface="Roboto"/>
            </a:endParaRPr>
          </a:p>
        </p:txBody>
      </p:sp>
      <p:cxnSp>
        <p:nvCxnSpPr>
          <p:cNvPr id="348" name="Google Shape;348;p12"/>
          <p:cNvCxnSpPr/>
          <p:nvPr/>
        </p:nvCxnSpPr>
        <p:spPr>
          <a:xfrm>
            <a:off x="1239012" y="2624328"/>
            <a:ext cx="0" cy="128016"/>
          </a:xfrm>
          <a:prstGeom prst="straightConnector1">
            <a:avLst/>
          </a:prstGeom>
          <a:noFill/>
          <a:ln cap="flat" cmpd="sng" w="19050">
            <a:solidFill>
              <a:srgbClr val="708090"/>
            </a:solidFill>
            <a:prstDash val="solid"/>
            <a:round/>
            <a:headEnd len="sm" w="sm" type="none"/>
            <a:tailEnd len="sm" w="sm" type="none"/>
          </a:ln>
        </p:spPr>
      </p:cxnSp>
      <p:sp>
        <p:nvSpPr>
          <p:cNvPr id="349" name="Google Shape;349;p12"/>
          <p:cNvSpPr/>
          <p:nvPr/>
        </p:nvSpPr>
        <p:spPr>
          <a:xfrm>
            <a:off x="347472" y="2761488"/>
            <a:ext cx="1783080" cy="402336"/>
          </a:xfrm>
          <a:prstGeom prst="roundRect">
            <a:avLst>
              <a:gd fmla="val 9091" name="adj"/>
            </a:avLst>
          </a:prstGeom>
          <a:solidFill>
            <a:srgbClr val="1B3A6B"/>
          </a:solidFill>
          <a:ln cap="flat" cmpd="sng" w="12700">
            <a:solidFill>
              <a:srgbClr val="1B3A6B"/>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p:nvPr/>
        </p:nvSpPr>
        <p:spPr>
          <a:xfrm>
            <a:off x="420624" y="2761488"/>
            <a:ext cx="16642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Quality Scoring</a:t>
            </a:r>
            <a:endParaRPr i="0" sz="800" u="none" cap="none" strike="noStrike">
              <a:solidFill>
                <a:schemeClr val="dk1"/>
              </a:solidFill>
              <a:latin typeface="Roboto"/>
              <a:ea typeface="Roboto"/>
              <a:cs typeface="Roboto"/>
              <a:sym typeface="Roboto"/>
            </a:endParaRPr>
          </a:p>
        </p:txBody>
      </p:sp>
      <p:cxnSp>
        <p:nvCxnSpPr>
          <p:cNvPr id="351" name="Google Shape;351;p12"/>
          <p:cNvCxnSpPr/>
          <p:nvPr/>
        </p:nvCxnSpPr>
        <p:spPr>
          <a:xfrm>
            <a:off x="1239012" y="3172968"/>
            <a:ext cx="0" cy="128016"/>
          </a:xfrm>
          <a:prstGeom prst="straightConnector1">
            <a:avLst/>
          </a:prstGeom>
          <a:noFill/>
          <a:ln cap="flat" cmpd="sng" w="19050">
            <a:solidFill>
              <a:srgbClr val="708090"/>
            </a:solidFill>
            <a:prstDash val="solid"/>
            <a:round/>
            <a:headEnd len="sm" w="sm" type="none"/>
            <a:tailEnd len="sm" w="sm" type="none"/>
          </a:ln>
        </p:spPr>
      </p:cxnSp>
      <p:sp>
        <p:nvSpPr>
          <p:cNvPr id="352" name="Google Shape;352;p12"/>
          <p:cNvSpPr/>
          <p:nvPr/>
        </p:nvSpPr>
        <p:spPr>
          <a:xfrm>
            <a:off x="347472" y="3310128"/>
            <a:ext cx="1783080" cy="402336"/>
          </a:xfrm>
          <a:prstGeom prst="roundRect">
            <a:avLst>
              <a:gd fmla="val 9091" name="adj"/>
            </a:avLst>
          </a:prstGeom>
          <a:solidFill>
            <a:srgbClr val="1A4A30"/>
          </a:solidFill>
          <a:ln cap="flat" cmpd="sng" w="12700">
            <a:solidFill>
              <a:srgbClr val="1A4A3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420624" y="3310128"/>
            <a:ext cx="16642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Risk Assessment</a:t>
            </a:r>
            <a:endParaRPr i="0" sz="800" u="none" cap="none" strike="noStrike">
              <a:solidFill>
                <a:schemeClr val="dk1"/>
              </a:solidFill>
              <a:latin typeface="Roboto"/>
              <a:ea typeface="Roboto"/>
              <a:cs typeface="Roboto"/>
              <a:sym typeface="Roboto"/>
            </a:endParaRPr>
          </a:p>
        </p:txBody>
      </p:sp>
      <p:sp>
        <p:nvSpPr>
          <p:cNvPr id="354" name="Google Shape;354;p12"/>
          <p:cNvSpPr/>
          <p:nvPr/>
        </p:nvSpPr>
        <p:spPr>
          <a:xfrm>
            <a:off x="2313432" y="1664208"/>
            <a:ext cx="1783080" cy="402336"/>
          </a:xfrm>
          <a:prstGeom prst="roundRect">
            <a:avLst>
              <a:gd fmla="val 9091" name="adj"/>
            </a:avLst>
          </a:prstGeom>
          <a:solidFill>
            <a:srgbClr val="1A4A30"/>
          </a:solidFill>
          <a:ln cap="flat" cmpd="sng" w="12700">
            <a:solidFill>
              <a:srgbClr val="1A4A30"/>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2386584" y="1664208"/>
            <a:ext cx="16642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Portfolio Optimization</a:t>
            </a:r>
            <a:endParaRPr i="0" sz="800" u="none" cap="none" strike="noStrike">
              <a:solidFill>
                <a:schemeClr val="dk1"/>
              </a:solidFill>
              <a:latin typeface="Roboto"/>
              <a:ea typeface="Roboto"/>
              <a:cs typeface="Roboto"/>
              <a:sym typeface="Roboto"/>
            </a:endParaRPr>
          </a:p>
        </p:txBody>
      </p:sp>
      <p:cxnSp>
        <p:nvCxnSpPr>
          <p:cNvPr id="356" name="Google Shape;356;p12"/>
          <p:cNvCxnSpPr/>
          <p:nvPr/>
        </p:nvCxnSpPr>
        <p:spPr>
          <a:xfrm>
            <a:off x="3204972" y="2075688"/>
            <a:ext cx="0" cy="128016"/>
          </a:xfrm>
          <a:prstGeom prst="straightConnector1">
            <a:avLst/>
          </a:prstGeom>
          <a:noFill/>
          <a:ln cap="flat" cmpd="sng" w="19050">
            <a:solidFill>
              <a:srgbClr val="708090"/>
            </a:solidFill>
            <a:prstDash val="solid"/>
            <a:round/>
            <a:headEnd len="sm" w="sm" type="none"/>
            <a:tailEnd len="sm" w="sm" type="none"/>
          </a:ln>
        </p:spPr>
      </p:cxnSp>
      <p:sp>
        <p:nvSpPr>
          <p:cNvPr id="357" name="Google Shape;357;p12"/>
          <p:cNvSpPr/>
          <p:nvPr/>
        </p:nvSpPr>
        <p:spPr>
          <a:xfrm>
            <a:off x="2313432" y="2212848"/>
            <a:ext cx="1783080" cy="402336"/>
          </a:xfrm>
          <a:prstGeom prst="roundRect">
            <a:avLst>
              <a:gd fmla="val 9091" name="adj"/>
            </a:avLst>
          </a:prstGeom>
          <a:solidFill>
            <a:srgbClr val="4A1878"/>
          </a:solidFill>
          <a:ln cap="flat" cmpd="sng" w="12700">
            <a:solidFill>
              <a:srgbClr val="4A1878"/>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2386584" y="2212848"/>
            <a:ext cx="16642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Allocation Engine</a:t>
            </a:r>
            <a:endParaRPr i="0" sz="800" u="none" cap="none" strike="noStrike">
              <a:solidFill>
                <a:schemeClr val="dk1"/>
              </a:solidFill>
              <a:latin typeface="Roboto"/>
              <a:ea typeface="Roboto"/>
              <a:cs typeface="Roboto"/>
              <a:sym typeface="Roboto"/>
            </a:endParaRPr>
          </a:p>
        </p:txBody>
      </p:sp>
      <p:cxnSp>
        <p:nvCxnSpPr>
          <p:cNvPr id="359" name="Google Shape;359;p12"/>
          <p:cNvCxnSpPr/>
          <p:nvPr/>
        </p:nvCxnSpPr>
        <p:spPr>
          <a:xfrm>
            <a:off x="3204972" y="2624328"/>
            <a:ext cx="0" cy="128016"/>
          </a:xfrm>
          <a:prstGeom prst="straightConnector1">
            <a:avLst/>
          </a:prstGeom>
          <a:noFill/>
          <a:ln cap="flat" cmpd="sng" w="19050">
            <a:solidFill>
              <a:srgbClr val="708090"/>
            </a:solidFill>
            <a:prstDash val="solid"/>
            <a:round/>
            <a:headEnd len="sm" w="sm" type="none"/>
            <a:tailEnd len="sm" w="sm" type="none"/>
          </a:ln>
        </p:spPr>
      </p:cxnSp>
      <p:sp>
        <p:nvSpPr>
          <p:cNvPr id="360" name="Google Shape;360;p12"/>
          <p:cNvSpPr/>
          <p:nvPr/>
        </p:nvSpPr>
        <p:spPr>
          <a:xfrm>
            <a:off x="2313432" y="2761488"/>
            <a:ext cx="1783080" cy="402336"/>
          </a:xfrm>
          <a:prstGeom prst="roundRect">
            <a:avLst>
              <a:gd fmla="val 9091" name="adj"/>
            </a:avLst>
          </a:prstGeom>
          <a:solidFill>
            <a:srgbClr val="4A1878"/>
          </a:solidFill>
          <a:ln cap="flat" cmpd="sng" w="12700">
            <a:solidFill>
              <a:srgbClr val="4A1878"/>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2386584" y="2761488"/>
            <a:ext cx="16642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Monitoring &amp; Rebalancing</a:t>
            </a:r>
            <a:endParaRPr i="0" sz="800" u="none" cap="none" strike="noStrike">
              <a:solidFill>
                <a:schemeClr val="dk1"/>
              </a:solidFill>
              <a:latin typeface="Roboto"/>
              <a:ea typeface="Roboto"/>
              <a:cs typeface="Roboto"/>
              <a:sym typeface="Roboto"/>
            </a:endParaRPr>
          </a:p>
        </p:txBody>
      </p:sp>
      <p:cxnSp>
        <p:nvCxnSpPr>
          <p:cNvPr id="362" name="Google Shape;362;p12"/>
          <p:cNvCxnSpPr/>
          <p:nvPr/>
        </p:nvCxnSpPr>
        <p:spPr>
          <a:xfrm>
            <a:off x="3204972" y="3172968"/>
            <a:ext cx="0" cy="128016"/>
          </a:xfrm>
          <a:prstGeom prst="straightConnector1">
            <a:avLst/>
          </a:prstGeom>
          <a:noFill/>
          <a:ln cap="flat" cmpd="sng" w="19050">
            <a:solidFill>
              <a:srgbClr val="708090"/>
            </a:solidFill>
            <a:prstDash val="solid"/>
            <a:round/>
            <a:headEnd len="sm" w="sm" type="none"/>
            <a:tailEnd len="sm" w="sm" type="none"/>
          </a:ln>
        </p:spPr>
      </p:cxnSp>
      <p:sp>
        <p:nvSpPr>
          <p:cNvPr id="363" name="Google Shape;363;p12"/>
          <p:cNvSpPr/>
          <p:nvPr/>
        </p:nvSpPr>
        <p:spPr>
          <a:xfrm>
            <a:off x="2313432" y="3310128"/>
            <a:ext cx="1783080" cy="402336"/>
          </a:xfrm>
          <a:prstGeom prst="roundRect">
            <a:avLst>
              <a:gd fmla="val 9091" name="adj"/>
            </a:avLst>
          </a:prstGeom>
          <a:solidFill>
            <a:srgbClr val="0A192F"/>
          </a:solidFill>
          <a:ln cap="flat" cmpd="sng" w="12700">
            <a:solidFill>
              <a:srgbClr val="0A192F"/>
            </a:solidFill>
            <a:prstDash val="solid"/>
            <a:round/>
            <a:headEnd len="sm" w="sm" type="none"/>
            <a:tailEnd len="sm" w="sm" type="none"/>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2386584" y="3310128"/>
            <a:ext cx="1664208"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i="0" lang="en-US" sz="800" u="none" cap="none" strike="noStrike">
                <a:solidFill>
                  <a:srgbClr val="FFFFFF"/>
                </a:solidFill>
                <a:latin typeface="Roboto"/>
                <a:ea typeface="Roboto"/>
                <a:cs typeface="Roboto"/>
                <a:sym typeface="Roboto"/>
              </a:rPr>
              <a:t>Performance Attribution</a:t>
            </a:r>
            <a:endParaRPr i="0" sz="800" u="none" cap="none" strike="noStrike">
              <a:solidFill>
                <a:schemeClr val="dk1"/>
              </a:solidFill>
              <a:latin typeface="Roboto"/>
              <a:ea typeface="Roboto"/>
              <a:cs typeface="Roboto"/>
              <a:sym typeface="Roboto"/>
            </a:endParaRPr>
          </a:p>
        </p:txBody>
      </p:sp>
      <p:sp>
        <p:nvSpPr>
          <p:cNvPr id="365" name="Google Shape;365;p12"/>
          <p:cNvSpPr/>
          <p:nvPr/>
        </p:nvSpPr>
        <p:spPr>
          <a:xfrm>
            <a:off x="4251960" y="1389888"/>
            <a:ext cx="22860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TECHNOLOGY STACK</a:t>
            </a:r>
            <a:endParaRPr i="0" sz="950" u="none" cap="none" strike="noStrike">
              <a:solidFill>
                <a:schemeClr val="dk1"/>
              </a:solidFill>
              <a:latin typeface="Roboto"/>
              <a:ea typeface="Roboto"/>
              <a:cs typeface="Roboto"/>
              <a:sym typeface="Roboto"/>
            </a:endParaRPr>
          </a:p>
        </p:txBody>
      </p:sp>
      <p:sp>
        <p:nvSpPr>
          <p:cNvPr id="366" name="Google Shape;366;p12"/>
          <p:cNvSpPr/>
          <p:nvPr/>
        </p:nvSpPr>
        <p:spPr>
          <a:xfrm>
            <a:off x="4251960" y="1664208"/>
            <a:ext cx="2148840" cy="292608"/>
          </a:xfrm>
          <a:prstGeom prst="roundRect">
            <a:avLst>
              <a:gd fmla="val 12500"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67" name="Google Shape;367;p12"/>
          <p:cNvSpPr/>
          <p:nvPr/>
        </p:nvSpPr>
        <p:spPr>
          <a:xfrm>
            <a:off x="4434840" y="1664208"/>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900"/>
              <a:buFont typeface="Calibri"/>
              <a:buNone/>
            </a:pPr>
            <a:r>
              <a:rPr b="1" i="0" lang="en-US" sz="950" u="none" cap="none" strike="noStrike">
                <a:solidFill>
                  <a:srgbClr val="1B3A6B"/>
                </a:solidFill>
                <a:latin typeface="Roboto"/>
                <a:ea typeface="Roboto"/>
                <a:cs typeface="Roboto"/>
                <a:sym typeface="Roboto"/>
              </a:rPr>
              <a:t>Python</a:t>
            </a:r>
            <a:endParaRPr i="0" sz="950" u="none" cap="none" strike="noStrike">
              <a:solidFill>
                <a:schemeClr val="dk1"/>
              </a:solidFill>
              <a:latin typeface="Roboto"/>
              <a:ea typeface="Roboto"/>
              <a:cs typeface="Roboto"/>
              <a:sym typeface="Roboto"/>
            </a:endParaRPr>
          </a:p>
        </p:txBody>
      </p:sp>
      <p:sp>
        <p:nvSpPr>
          <p:cNvPr id="368" name="Google Shape;368;p12"/>
          <p:cNvSpPr/>
          <p:nvPr/>
        </p:nvSpPr>
        <p:spPr>
          <a:xfrm>
            <a:off x="4251960" y="2029968"/>
            <a:ext cx="2148840" cy="292608"/>
          </a:xfrm>
          <a:prstGeom prst="roundRect">
            <a:avLst>
              <a:gd fmla="val 12500"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69" name="Google Shape;369;p12"/>
          <p:cNvSpPr/>
          <p:nvPr/>
        </p:nvSpPr>
        <p:spPr>
          <a:xfrm>
            <a:off x="4434840" y="2029968"/>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900"/>
              <a:buFont typeface="Calibri"/>
              <a:buNone/>
            </a:pPr>
            <a:r>
              <a:rPr b="1" i="0" lang="en-US" sz="950" u="none" cap="none" strike="noStrike">
                <a:solidFill>
                  <a:srgbClr val="1B3A6B"/>
                </a:solidFill>
                <a:latin typeface="Roboto"/>
                <a:ea typeface="Roboto"/>
                <a:cs typeface="Roboto"/>
                <a:sym typeface="Roboto"/>
              </a:rPr>
              <a:t>NumPy</a:t>
            </a:r>
            <a:endParaRPr i="0" sz="950" u="none" cap="none" strike="noStrike">
              <a:solidFill>
                <a:schemeClr val="dk1"/>
              </a:solidFill>
              <a:latin typeface="Roboto"/>
              <a:ea typeface="Roboto"/>
              <a:cs typeface="Roboto"/>
              <a:sym typeface="Roboto"/>
            </a:endParaRPr>
          </a:p>
        </p:txBody>
      </p:sp>
      <p:sp>
        <p:nvSpPr>
          <p:cNvPr id="370" name="Google Shape;370;p12"/>
          <p:cNvSpPr/>
          <p:nvPr/>
        </p:nvSpPr>
        <p:spPr>
          <a:xfrm>
            <a:off x="4251960" y="2395728"/>
            <a:ext cx="2148840" cy="292608"/>
          </a:xfrm>
          <a:prstGeom prst="roundRect">
            <a:avLst>
              <a:gd fmla="val 12500"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71" name="Google Shape;371;p12"/>
          <p:cNvSpPr/>
          <p:nvPr/>
        </p:nvSpPr>
        <p:spPr>
          <a:xfrm>
            <a:off x="4434840" y="2395728"/>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900"/>
              <a:buFont typeface="Calibri"/>
              <a:buNone/>
            </a:pPr>
            <a:r>
              <a:rPr b="1" i="0" lang="en-US" sz="950" u="none" cap="none" strike="noStrike">
                <a:solidFill>
                  <a:srgbClr val="1B3A6B"/>
                </a:solidFill>
                <a:latin typeface="Roboto"/>
                <a:ea typeface="Roboto"/>
                <a:cs typeface="Roboto"/>
                <a:sym typeface="Roboto"/>
              </a:rPr>
              <a:t>Pandas</a:t>
            </a:r>
            <a:endParaRPr i="0" sz="950" u="none" cap="none" strike="noStrike">
              <a:solidFill>
                <a:schemeClr val="dk1"/>
              </a:solidFill>
              <a:latin typeface="Roboto"/>
              <a:ea typeface="Roboto"/>
              <a:cs typeface="Roboto"/>
              <a:sym typeface="Roboto"/>
            </a:endParaRPr>
          </a:p>
        </p:txBody>
      </p:sp>
      <p:sp>
        <p:nvSpPr>
          <p:cNvPr id="372" name="Google Shape;372;p12"/>
          <p:cNvSpPr/>
          <p:nvPr/>
        </p:nvSpPr>
        <p:spPr>
          <a:xfrm>
            <a:off x="4251960" y="2761488"/>
            <a:ext cx="2148840" cy="292608"/>
          </a:xfrm>
          <a:prstGeom prst="roundRect">
            <a:avLst>
              <a:gd fmla="val 12500"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73" name="Google Shape;373;p12"/>
          <p:cNvSpPr/>
          <p:nvPr/>
        </p:nvSpPr>
        <p:spPr>
          <a:xfrm>
            <a:off x="4434840" y="2761488"/>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900"/>
              <a:buFont typeface="Calibri"/>
              <a:buNone/>
            </a:pPr>
            <a:r>
              <a:rPr b="1" i="0" lang="en-US" sz="950" u="none" cap="none" strike="noStrike">
                <a:solidFill>
                  <a:srgbClr val="1B3A6B"/>
                </a:solidFill>
                <a:latin typeface="Roboto"/>
                <a:ea typeface="Roboto"/>
                <a:cs typeface="Roboto"/>
                <a:sym typeface="Roboto"/>
              </a:rPr>
              <a:t>SciPy (SLSQP)</a:t>
            </a:r>
            <a:endParaRPr i="0" sz="950" u="none" cap="none" strike="noStrike">
              <a:solidFill>
                <a:schemeClr val="dk1"/>
              </a:solidFill>
              <a:latin typeface="Roboto"/>
              <a:ea typeface="Roboto"/>
              <a:cs typeface="Roboto"/>
              <a:sym typeface="Roboto"/>
            </a:endParaRPr>
          </a:p>
        </p:txBody>
      </p:sp>
      <p:sp>
        <p:nvSpPr>
          <p:cNvPr id="374" name="Google Shape;374;p12"/>
          <p:cNvSpPr/>
          <p:nvPr/>
        </p:nvSpPr>
        <p:spPr>
          <a:xfrm>
            <a:off x="4251960" y="3127248"/>
            <a:ext cx="2148840" cy="292608"/>
          </a:xfrm>
          <a:prstGeom prst="roundRect">
            <a:avLst>
              <a:gd fmla="val 12500"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75" name="Google Shape;375;p12"/>
          <p:cNvSpPr/>
          <p:nvPr/>
        </p:nvSpPr>
        <p:spPr>
          <a:xfrm>
            <a:off x="4434840" y="3127248"/>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900"/>
              <a:buFont typeface="Calibri"/>
              <a:buNone/>
            </a:pPr>
            <a:r>
              <a:rPr b="1" i="0" lang="en-US" sz="950" u="none" cap="none" strike="noStrike">
                <a:solidFill>
                  <a:srgbClr val="1B3A6B"/>
                </a:solidFill>
                <a:latin typeface="Roboto"/>
                <a:ea typeface="Roboto"/>
                <a:cs typeface="Roboto"/>
                <a:sym typeface="Roboto"/>
              </a:rPr>
              <a:t>yFinance</a:t>
            </a:r>
            <a:endParaRPr i="0" sz="950" u="none" cap="none" strike="noStrike">
              <a:solidFill>
                <a:schemeClr val="dk1"/>
              </a:solidFill>
              <a:latin typeface="Roboto"/>
              <a:ea typeface="Roboto"/>
              <a:cs typeface="Roboto"/>
              <a:sym typeface="Roboto"/>
            </a:endParaRPr>
          </a:p>
        </p:txBody>
      </p:sp>
      <p:sp>
        <p:nvSpPr>
          <p:cNvPr id="376" name="Google Shape;376;p12"/>
          <p:cNvSpPr/>
          <p:nvPr/>
        </p:nvSpPr>
        <p:spPr>
          <a:xfrm>
            <a:off x="4251960" y="3493008"/>
            <a:ext cx="2148840" cy="292608"/>
          </a:xfrm>
          <a:prstGeom prst="roundRect">
            <a:avLst>
              <a:gd fmla="val 12500" name="adj"/>
            </a:avLst>
          </a:prstGeom>
          <a:solidFill>
            <a:srgbClr val="F7F9FC"/>
          </a:solidFill>
          <a:ln cap="flat" cmpd="sng" w="12700">
            <a:solidFill>
              <a:srgbClr val="D5E0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77" name="Google Shape;377;p12"/>
          <p:cNvSpPr/>
          <p:nvPr/>
        </p:nvSpPr>
        <p:spPr>
          <a:xfrm>
            <a:off x="4434840" y="3493008"/>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3A6B"/>
              </a:buClr>
              <a:buSzPts val="900"/>
              <a:buFont typeface="Calibri"/>
              <a:buNone/>
            </a:pPr>
            <a:r>
              <a:rPr b="1" i="0" lang="en-US" sz="950" u="none" cap="none" strike="noStrike">
                <a:solidFill>
                  <a:srgbClr val="1B3A6B"/>
                </a:solidFill>
                <a:latin typeface="Roboto"/>
                <a:ea typeface="Roboto"/>
                <a:cs typeface="Roboto"/>
                <a:sym typeface="Roboto"/>
              </a:rPr>
              <a:t>Requests</a:t>
            </a:r>
            <a:endParaRPr i="0" sz="950" u="none" cap="none" strike="noStrike">
              <a:solidFill>
                <a:schemeClr val="dk1"/>
              </a:solidFill>
              <a:latin typeface="Roboto"/>
              <a:ea typeface="Roboto"/>
              <a:cs typeface="Roboto"/>
              <a:sym typeface="Roboto"/>
            </a:endParaRPr>
          </a:p>
        </p:txBody>
      </p:sp>
      <p:sp>
        <p:nvSpPr>
          <p:cNvPr id="378" name="Google Shape;378;p12"/>
          <p:cNvSpPr/>
          <p:nvPr/>
        </p:nvSpPr>
        <p:spPr>
          <a:xfrm>
            <a:off x="6537960" y="1389888"/>
            <a:ext cx="22860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50" u="none" cap="none" strike="noStrike">
                <a:solidFill>
                  <a:srgbClr val="0A192F"/>
                </a:solidFill>
                <a:latin typeface="Roboto"/>
                <a:ea typeface="Roboto"/>
                <a:cs typeface="Roboto"/>
                <a:sym typeface="Roboto"/>
              </a:rPr>
              <a:t>SCALABILITY FEATURES</a:t>
            </a:r>
            <a:endParaRPr i="0" sz="950" u="none" cap="none" strike="noStrike">
              <a:solidFill>
                <a:schemeClr val="dk1"/>
              </a:solidFill>
              <a:latin typeface="Roboto"/>
              <a:ea typeface="Roboto"/>
              <a:cs typeface="Roboto"/>
              <a:sym typeface="Roboto"/>
            </a:endParaRPr>
          </a:p>
        </p:txBody>
      </p:sp>
      <p:sp>
        <p:nvSpPr>
          <p:cNvPr id="379" name="Google Shape;379;p12"/>
          <p:cNvSpPr/>
          <p:nvPr/>
        </p:nvSpPr>
        <p:spPr>
          <a:xfrm>
            <a:off x="6565392" y="1737360"/>
            <a:ext cx="164592" cy="164592"/>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80" name="Google Shape;380;p12"/>
          <p:cNvSpPr/>
          <p:nvPr/>
        </p:nvSpPr>
        <p:spPr>
          <a:xfrm>
            <a:off x="6803136" y="1709928"/>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Dynamic data ingestion</a:t>
            </a:r>
            <a:endParaRPr i="0" sz="950" u="none" cap="none" strike="noStrike">
              <a:solidFill>
                <a:schemeClr val="dk1"/>
              </a:solidFill>
              <a:latin typeface="Roboto"/>
              <a:ea typeface="Roboto"/>
              <a:cs typeface="Roboto"/>
              <a:sym typeface="Roboto"/>
            </a:endParaRPr>
          </a:p>
        </p:txBody>
      </p:sp>
      <p:sp>
        <p:nvSpPr>
          <p:cNvPr id="381" name="Google Shape;381;p12"/>
          <p:cNvSpPr/>
          <p:nvPr/>
        </p:nvSpPr>
        <p:spPr>
          <a:xfrm>
            <a:off x="6565392" y="2103120"/>
            <a:ext cx="164592" cy="164592"/>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82" name="Google Shape;382;p12"/>
          <p:cNvSpPr/>
          <p:nvPr/>
        </p:nvSpPr>
        <p:spPr>
          <a:xfrm>
            <a:off x="6803136" y="2075688"/>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Automated quality scoring</a:t>
            </a:r>
            <a:endParaRPr i="0" sz="950" u="none" cap="none" strike="noStrike">
              <a:solidFill>
                <a:schemeClr val="dk1"/>
              </a:solidFill>
              <a:latin typeface="Roboto"/>
              <a:ea typeface="Roboto"/>
              <a:cs typeface="Roboto"/>
              <a:sym typeface="Roboto"/>
            </a:endParaRPr>
          </a:p>
        </p:txBody>
      </p:sp>
      <p:sp>
        <p:nvSpPr>
          <p:cNvPr id="383" name="Google Shape;383;p12"/>
          <p:cNvSpPr/>
          <p:nvPr/>
        </p:nvSpPr>
        <p:spPr>
          <a:xfrm>
            <a:off x="6565392" y="2468880"/>
            <a:ext cx="164592" cy="164592"/>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84" name="Google Shape;384;p12"/>
          <p:cNvSpPr/>
          <p:nvPr/>
        </p:nvSpPr>
        <p:spPr>
          <a:xfrm>
            <a:off x="6803136" y="2441448"/>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Systematic construction</a:t>
            </a:r>
            <a:endParaRPr i="0" sz="950" u="none" cap="none" strike="noStrike">
              <a:solidFill>
                <a:schemeClr val="dk1"/>
              </a:solidFill>
              <a:latin typeface="Roboto"/>
              <a:ea typeface="Roboto"/>
              <a:cs typeface="Roboto"/>
              <a:sym typeface="Roboto"/>
            </a:endParaRPr>
          </a:p>
        </p:txBody>
      </p:sp>
      <p:sp>
        <p:nvSpPr>
          <p:cNvPr id="385" name="Google Shape;385;p12"/>
          <p:cNvSpPr/>
          <p:nvPr/>
        </p:nvSpPr>
        <p:spPr>
          <a:xfrm>
            <a:off x="6565392" y="2834640"/>
            <a:ext cx="164592" cy="164592"/>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86" name="Google Shape;386;p12"/>
          <p:cNvSpPr/>
          <p:nvPr/>
        </p:nvSpPr>
        <p:spPr>
          <a:xfrm>
            <a:off x="6803136" y="2807208"/>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Continuous risk monitoring</a:t>
            </a:r>
            <a:endParaRPr i="0" sz="950" u="none" cap="none" strike="noStrike">
              <a:solidFill>
                <a:schemeClr val="dk1"/>
              </a:solidFill>
              <a:latin typeface="Roboto"/>
              <a:ea typeface="Roboto"/>
              <a:cs typeface="Roboto"/>
              <a:sym typeface="Roboto"/>
            </a:endParaRPr>
          </a:p>
        </p:txBody>
      </p:sp>
      <p:sp>
        <p:nvSpPr>
          <p:cNvPr id="387" name="Google Shape;387;p12"/>
          <p:cNvSpPr/>
          <p:nvPr/>
        </p:nvSpPr>
        <p:spPr>
          <a:xfrm>
            <a:off x="6565392" y="3200400"/>
            <a:ext cx="164592" cy="164592"/>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88" name="Google Shape;388;p12"/>
          <p:cNvSpPr/>
          <p:nvPr/>
        </p:nvSpPr>
        <p:spPr>
          <a:xfrm>
            <a:off x="6803136" y="3172968"/>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Rebalancing support</a:t>
            </a:r>
            <a:endParaRPr i="0" sz="950" u="none" cap="none" strike="noStrike">
              <a:solidFill>
                <a:schemeClr val="dk1"/>
              </a:solidFill>
              <a:latin typeface="Roboto"/>
              <a:ea typeface="Roboto"/>
              <a:cs typeface="Roboto"/>
              <a:sym typeface="Roboto"/>
            </a:endParaRPr>
          </a:p>
        </p:txBody>
      </p:sp>
      <p:sp>
        <p:nvSpPr>
          <p:cNvPr id="389" name="Google Shape;389;p12"/>
          <p:cNvSpPr/>
          <p:nvPr/>
        </p:nvSpPr>
        <p:spPr>
          <a:xfrm>
            <a:off x="6565392" y="3566160"/>
            <a:ext cx="164592" cy="164592"/>
          </a:xfrm>
          <a:prstGeom prst="ellipse">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50">
              <a:latin typeface="Roboto"/>
              <a:ea typeface="Roboto"/>
              <a:cs typeface="Roboto"/>
              <a:sym typeface="Roboto"/>
            </a:endParaRPr>
          </a:p>
        </p:txBody>
      </p:sp>
      <p:sp>
        <p:nvSpPr>
          <p:cNvPr id="390" name="Google Shape;390;p12"/>
          <p:cNvSpPr/>
          <p:nvPr/>
        </p:nvSpPr>
        <p:spPr>
          <a:xfrm>
            <a:off x="6803136" y="3538728"/>
            <a:ext cx="20116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850"/>
              <a:buFont typeface="Calibri"/>
              <a:buNone/>
            </a:pPr>
            <a:r>
              <a:rPr i="0" lang="en-US" sz="950" u="none" cap="none" strike="noStrike">
                <a:solidFill>
                  <a:srgbClr val="4A5568"/>
                </a:solidFill>
                <a:latin typeface="Roboto"/>
                <a:ea typeface="Roboto"/>
                <a:cs typeface="Roboto"/>
                <a:sym typeface="Roboto"/>
              </a:rPr>
              <a:t>Performance attribution</a:t>
            </a:r>
            <a:endParaRPr i="0" sz="950" u="none" cap="none" strike="noStrike">
              <a:solidFill>
                <a:schemeClr val="dk1"/>
              </a:solidFill>
              <a:latin typeface="Roboto"/>
              <a:ea typeface="Roboto"/>
              <a:cs typeface="Roboto"/>
              <a:sym typeface="Roboto"/>
            </a:endParaRPr>
          </a:p>
        </p:txBody>
      </p:sp>
      <p:sp>
        <p:nvSpPr>
          <p:cNvPr id="391" name="Google Shape;391;p12"/>
          <p:cNvSpPr/>
          <p:nvPr/>
        </p:nvSpPr>
        <p:spPr>
          <a:xfrm>
            <a:off x="347472" y="3931920"/>
            <a:ext cx="5212080" cy="896112"/>
          </a:xfrm>
          <a:prstGeom prst="roundRect">
            <a:avLst>
              <a:gd fmla="val 7143" name="adj"/>
            </a:avLst>
          </a:prstGeom>
          <a:solidFill>
            <a:srgbClr val="0A192F"/>
          </a:solidFill>
          <a:ln cap="flat" cmpd="sng" w="12700">
            <a:solidFill>
              <a:srgbClr val="C8A8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502920" y="3977640"/>
            <a:ext cx="4892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850"/>
              <a:buFont typeface="Calibri"/>
              <a:buNone/>
            </a:pPr>
            <a:r>
              <a:rPr b="1" i="0" lang="en-US" sz="850" u="none" cap="none" strike="noStrike">
                <a:solidFill>
                  <a:srgbClr val="C8A84B"/>
                </a:solidFill>
                <a:latin typeface="Roboto"/>
                <a:ea typeface="Roboto"/>
                <a:cs typeface="Roboto"/>
                <a:sym typeface="Roboto"/>
              </a:rPr>
              <a:t>INVESTMENT COMMITTEE FINAL STATEMENT</a:t>
            </a:r>
            <a:endParaRPr i="0" sz="850" u="none" cap="none" strike="noStrike">
              <a:solidFill>
                <a:schemeClr val="dk1"/>
              </a:solidFill>
              <a:latin typeface="Roboto"/>
              <a:ea typeface="Roboto"/>
              <a:cs typeface="Roboto"/>
              <a:sym typeface="Roboto"/>
            </a:endParaRPr>
          </a:p>
        </p:txBody>
      </p:sp>
      <p:sp>
        <p:nvSpPr>
          <p:cNvPr id="393" name="Google Shape;393;p12"/>
          <p:cNvSpPr/>
          <p:nvPr/>
        </p:nvSpPr>
        <p:spPr>
          <a:xfrm>
            <a:off x="502920" y="4169664"/>
            <a:ext cx="489204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CF0"/>
              </a:buClr>
              <a:buSzPts val="850"/>
              <a:buFont typeface="Calibri"/>
              <a:buNone/>
            </a:pPr>
            <a:r>
              <a:rPr lang="en-US" sz="850" u="none" cap="none" strike="noStrike">
                <a:solidFill>
                  <a:srgbClr val="D0DCF0"/>
                </a:solidFill>
                <a:latin typeface="Roboto"/>
                <a:ea typeface="Roboto"/>
                <a:cs typeface="Roboto"/>
                <a:sym typeface="Roboto"/>
              </a:rPr>
              <a:t>The optimizer was designed to maximize expected returns while respecting risk budgets, diversification requirements, and capital preservation objectives. Evaluate success by risk-budget adherence, not metric maximization.</a:t>
            </a:r>
            <a:endParaRPr sz="850" u="none" cap="none" strike="noStrike">
              <a:solidFill>
                <a:schemeClr val="dk1"/>
              </a:solidFill>
              <a:latin typeface="Roboto"/>
              <a:ea typeface="Roboto"/>
              <a:cs typeface="Roboto"/>
              <a:sym typeface="Roboto"/>
            </a:endParaRPr>
          </a:p>
        </p:txBody>
      </p:sp>
      <p:sp>
        <p:nvSpPr>
          <p:cNvPr id="394" name="Google Shape;394;p12"/>
          <p:cNvSpPr/>
          <p:nvPr/>
        </p:nvSpPr>
        <p:spPr>
          <a:xfrm>
            <a:off x="5742432" y="3931920"/>
            <a:ext cx="3063240" cy="896112"/>
          </a:xfrm>
          <a:prstGeom prst="roundRect">
            <a:avLst>
              <a:gd fmla="val 7143" name="adj"/>
            </a:avLst>
          </a:prstGeom>
          <a:solidFill>
            <a:srgbClr val="EAF0F8"/>
          </a:solidFill>
          <a:ln cap="flat" cmpd="sng" w="12700">
            <a:solidFill>
              <a:srgbClr val="C5D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5870448" y="397764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92F"/>
              </a:buClr>
              <a:buSzPts val="900"/>
              <a:buFont typeface="Calibri"/>
              <a:buNone/>
            </a:pPr>
            <a:r>
              <a:rPr b="1" i="0" lang="en-US" sz="900" u="none" cap="none" strike="noStrike">
                <a:solidFill>
                  <a:srgbClr val="0A192F"/>
                </a:solidFill>
                <a:latin typeface="Roboto"/>
                <a:ea typeface="Roboto"/>
                <a:cs typeface="Roboto"/>
                <a:sym typeface="Roboto"/>
              </a:rPr>
              <a:t>Repository</a:t>
            </a:r>
            <a:endParaRPr i="0" sz="900" u="none" cap="none" strike="noStrike">
              <a:solidFill>
                <a:schemeClr val="dk1"/>
              </a:solidFill>
              <a:latin typeface="Roboto"/>
              <a:ea typeface="Roboto"/>
              <a:cs typeface="Roboto"/>
              <a:sym typeface="Roboto"/>
            </a:endParaRPr>
          </a:p>
        </p:txBody>
      </p:sp>
      <p:sp>
        <p:nvSpPr>
          <p:cNvPr id="396" name="Google Shape;396;p12"/>
          <p:cNvSpPr/>
          <p:nvPr/>
        </p:nvSpPr>
        <p:spPr>
          <a:xfrm>
            <a:off x="5870445" y="4361617"/>
            <a:ext cx="5486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4B"/>
              </a:buClr>
              <a:buSzPts val="950"/>
              <a:buFont typeface="Calibri"/>
              <a:buNone/>
            </a:pPr>
            <a:r>
              <a:rPr b="1" i="0" lang="en-US" sz="950" u="sng" cap="none" strike="noStrike">
                <a:solidFill>
                  <a:srgbClr val="4A86E8"/>
                </a:solidFill>
                <a:latin typeface="Calibri"/>
                <a:ea typeface="Calibri"/>
                <a:cs typeface="Calibri"/>
                <a:sym typeface="Calibri"/>
                <a:hlinkClick r:id="rId3">
                  <a:extLst>
                    <a:ext uri="{A12FA001-AC4F-418D-AE19-62706E023703}">
                      <ahyp:hlinkClr val="tx"/>
                    </a:ext>
                  </a:extLst>
                </a:hlinkClick>
              </a:rPr>
              <a:t>Link of Github</a:t>
            </a:r>
            <a:endParaRPr b="1" i="0" sz="950" u="none" cap="none" strike="noStrike">
              <a:solidFill>
                <a:srgbClr val="4A86E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